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Lst>
  <p:sldSz cx="18288000" cy="10287000"/>
  <p:notesSz cx="6858000" cy="9144000"/>
  <p:embeddedFontLst>
    <p:embeddedFont>
      <p:font typeface="Roboto Bold" charset="1" panose="02000000000000000000"/>
      <p:regular r:id="rId11"/>
    </p:embeddedFont>
    <p:embeddedFont>
      <p:font typeface="Cheddar" charset="1" panose="00000000000000000000"/>
      <p:regular r:id="rId12"/>
    </p:embeddedFont>
    <p:embeddedFont>
      <p:font typeface="Roboto" charset="1" panose="0200000000000000000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9.jpeg" Type="http://schemas.openxmlformats.org/officeDocument/2006/relationships/image"/><Relationship Id="rId6" Target="../media/image10.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12F6D"/>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13099449" cy="8859531"/>
          </a:xfrm>
          <a:custGeom>
            <a:avLst/>
            <a:gdLst/>
            <a:ahLst/>
            <a:cxnLst/>
            <a:rect r="r" b="b" t="t" l="l"/>
            <a:pathLst>
              <a:path h="8859531" w="13099449">
                <a:moveTo>
                  <a:pt x="0" y="0"/>
                </a:moveTo>
                <a:lnTo>
                  <a:pt x="13099449" y="0"/>
                </a:lnTo>
                <a:lnTo>
                  <a:pt x="13099449" y="8859531"/>
                </a:lnTo>
                <a:lnTo>
                  <a:pt x="0" y="88595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191631" y="3824053"/>
            <a:ext cx="9621348" cy="671786"/>
          </a:xfrm>
          <a:prstGeom prst="rect">
            <a:avLst/>
          </a:prstGeom>
        </p:spPr>
        <p:txBody>
          <a:bodyPr anchor="t" rtlCol="false" tIns="0" lIns="0" bIns="0" rIns="0">
            <a:spAutoFit/>
          </a:bodyPr>
          <a:lstStyle/>
          <a:p>
            <a:pPr algn="l">
              <a:lnSpc>
                <a:spcPts val="5497"/>
              </a:lnSpc>
            </a:pPr>
            <a:r>
              <a:rPr lang="en-US" b="true" sz="3926">
                <a:solidFill>
                  <a:srgbClr val="FFFFFF"/>
                </a:solidFill>
                <a:latin typeface="Roboto Bold"/>
                <a:ea typeface="Roboto Bold"/>
                <a:cs typeface="Roboto Bold"/>
                <a:sym typeface="Roboto Bold"/>
              </a:rPr>
              <a:t>Community are not sustainable for all.</a:t>
            </a:r>
          </a:p>
        </p:txBody>
      </p:sp>
      <p:sp>
        <p:nvSpPr>
          <p:cNvPr name="Freeform 4" id="4"/>
          <p:cNvSpPr/>
          <p:nvPr/>
        </p:nvSpPr>
        <p:spPr>
          <a:xfrm flipH="false" flipV="false" rot="343382">
            <a:off x="-258414" y="-78218"/>
            <a:ext cx="2574228" cy="2213836"/>
          </a:xfrm>
          <a:custGeom>
            <a:avLst/>
            <a:gdLst/>
            <a:ahLst/>
            <a:cxnLst/>
            <a:rect r="r" b="b" t="t" l="l"/>
            <a:pathLst>
              <a:path h="2213836" w="2574228">
                <a:moveTo>
                  <a:pt x="0" y="0"/>
                </a:moveTo>
                <a:lnTo>
                  <a:pt x="2574228" y="0"/>
                </a:lnTo>
                <a:lnTo>
                  <a:pt x="2574228" y="2213836"/>
                </a:lnTo>
                <a:lnTo>
                  <a:pt x="0" y="22138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4381927" y="3490678"/>
            <a:ext cx="3749224" cy="5176525"/>
          </a:xfrm>
          <a:custGeom>
            <a:avLst/>
            <a:gdLst/>
            <a:ahLst/>
            <a:cxnLst/>
            <a:rect r="r" b="b" t="t" l="l"/>
            <a:pathLst>
              <a:path h="5176525" w="3749224">
                <a:moveTo>
                  <a:pt x="0" y="0"/>
                </a:moveTo>
                <a:lnTo>
                  <a:pt x="3749225" y="0"/>
                </a:lnTo>
                <a:lnTo>
                  <a:pt x="3749225" y="5176524"/>
                </a:lnTo>
                <a:lnTo>
                  <a:pt x="0" y="517652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3932451" y="2050369"/>
            <a:ext cx="7291946" cy="1440308"/>
          </a:xfrm>
          <a:prstGeom prst="rect">
            <a:avLst/>
          </a:prstGeom>
        </p:spPr>
        <p:txBody>
          <a:bodyPr anchor="t" rtlCol="false" tIns="0" lIns="0" bIns="0" rIns="0">
            <a:spAutoFit/>
          </a:bodyPr>
          <a:lstStyle/>
          <a:p>
            <a:pPr algn="ctr" marL="0" indent="0" lvl="1">
              <a:lnSpc>
                <a:spcPts val="8774"/>
              </a:lnSpc>
              <a:spcBef>
                <a:spcPct val="0"/>
              </a:spcBef>
            </a:pPr>
            <a:r>
              <a:rPr lang="en-US" sz="10700" spc="-374">
                <a:solidFill>
                  <a:srgbClr val="DBD9FE"/>
                </a:solidFill>
                <a:latin typeface="Cheddar"/>
                <a:ea typeface="Cheddar"/>
                <a:cs typeface="Cheddar"/>
                <a:sym typeface="Cheddar"/>
              </a:rPr>
              <a:t>PROBLEM</a:t>
            </a:r>
            <a:r>
              <a:rPr lang="en-US" sz="10700" spc="-374">
                <a:solidFill>
                  <a:srgbClr val="000000"/>
                </a:solidFill>
                <a:latin typeface="Cheddar"/>
                <a:ea typeface="Cheddar"/>
                <a:cs typeface="Cheddar"/>
                <a:sym typeface="Cheddar"/>
              </a:rPr>
              <a:t> </a:t>
            </a:r>
          </a:p>
        </p:txBody>
      </p:sp>
      <p:sp>
        <p:nvSpPr>
          <p:cNvPr name="TextBox 7" id="7"/>
          <p:cNvSpPr txBox="true"/>
          <p:nvPr/>
        </p:nvSpPr>
        <p:spPr>
          <a:xfrm rot="0">
            <a:off x="1924165" y="4410113"/>
            <a:ext cx="10896956" cy="5440000"/>
          </a:xfrm>
          <a:prstGeom prst="rect">
            <a:avLst/>
          </a:prstGeom>
        </p:spPr>
        <p:txBody>
          <a:bodyPr anchor="t" rtlCol="false" tIns="0" lIns="0" bIns="0" rIns="0">
            <a:spAutoFit/>
          </a:bodyPr>
          <a:lstStyle/>
          <a:p>
            <a:pPr algn="l" marL="761425" indent="-380712" lvl="1">
              <a:lnSpc>
                <a:spcPts val="4937"/>
              </a:lnSpc>
              <a:buFont typeface="Arial"/>
              <a:buChar char="•"/>
            </a:pPr>
            <a:r>
              <a:rPr lang="en-US" sz="3526">
                <a:solidFill>
                  <a:srgbClr val="FFFFFF"/>
                </a:solidFill>
                <a:latin typeface="Roboto"/>
                <a:ea typeface="Roboto"/>
                <a:cs typeface="Roboto"/>
                <a:sym typeface="Roboto"/>
              </a:rPr>
              <a:t>People with disabilities cannot navigate cities independently</a:t>
            </a:r>
          </a:p>
          <a:p>
            <a:pPr algn="l" marL="761425" indent="-380712" lvl="1">
              <a:lnSpc>
                <a:spcPts val="4937"/>
              </a:lnSpc>
              <a:buFont typeface="Arial"/>
              <a:buChar char="•"/>
            </a:pPr>
            <a:r>
              <a:rPr lang="en-US" sz="3526">
                <a:solidFill>
                  <a:srgbClr val="FFFFFF"/>
                </a:solidFill>
                <a:latin typeface="Roboto"/>
                <a:ea typeface="Roboto"/>
                <a:cs typeface="Roboto"/>
                <a:sym typeface="Roboto"/>
              </a:rPr>
              <a:t>Poor urban design creates daily barriers</a:t>
            </a:r>
          </a:p>
          <a:p>
            <a:pPr algn="l" marL="761425" indent="-380712" lvl="1">
              <a:lnSpc>
                <a:spcPts val="4937"/>
              </a:lnSpc>
              <a:buFont typeface="Arial"/>
              <a:buChar char="•"/>
            </a:pPr>
            <a:r>
              <a:rPr lang="en-US" sz="3526">
                <a:solidFill>
                  <a:srgbClr val="FFFFFF"/>
                </a:solidFill>
                <a:latin typeface="Roboto"/>
                <a:ea typeface="Roboto"/>
                <a:cs typeface="Roboto"/>
                <a:sym typeface="Roboto"/>
              </a:rPr>
              <a:t>Lack of assistive technology limits mobility</a:t>
            </a:r>
          </a:p>
          <a:p>
            <a:pPr algn="l" marL="761425" indent="-380712" lvl="1">
              <a:lnSpc>
                <a:spcPts val="4937"/>
              </a:lnSpc>
              <a:buFont typeface="Arial"/>
              <a:buChar char="•"/>
            </a:pPr>
            <a:r>
              <a:rPr lang="en-US" sz="3526">
                <a:solidFill>
                  <a:srgbClr val="FFFFFF"/>
                </a:solidFill>
                <a:latin typeface="Roboto"/>
                <a:ea typeface="Roboto"/>
                <a:cs typeface="Roboto"/>
                <a:sym typeface="Roboto"/>
              </a:rPr>
              <a:t>Simple everyday tasks become difficult</a:t>
            </a:r>
          </a:p>
          <a:p>
            <a:pPr algn="l">
              <a:lnSpc>
                <a:spcPts val="4937"/>
              </a:lnSpc>
            </a:pPr>
          </a:p>
          <a:p>
            <a:pPr algn="l">
              <a:lnSpc>
                <a:spcPts val="4937"/>
              </a:lnSpc>
            </a:pPr>
          </a:p>
          <a:p>
            <a:pPr algn="l">
              <a:lnSpc>
                <a:spcPts val="4377"/>
              </a:lnSpc>
            </a:pPr>
          </a:p>
          <a:p>
            <a:pPr algn="just" marL="0" indent="0" lvl="1">
              <a:lnSpc>
                <a:spcPts val="4377"/>
              </a:lnSpc>
              <a:spcBef>
                <a:spcPct val="0"/>
              </a:spcBef>
            </a:pPr>
          </a:p>
        </p:txBody>
      </p:sp>
      <p:sp>
        <p:nvSpPr>
          <p:cNvPr name="TextBox 8" id="8"/>
          <p:cNvSpPr txBox="true"/>
          <p:nvPr/>
        </p:nvSpPr>
        <p:spPr>
          <a:xfrm rot="0">
            <a:off x="2191631" y="7619424"/>
            <a:ext cx="10629490" cy="589236"/>
          </a:xfrm>
          <a:prstGeom prst="rect">
            <a:avLst/>
          </a:prstGeom>
        </p:spPr>
        <p:txBody>
          <a:bodyPr anchor="t" rtlCol="false" tIns="0" lIns="0" bIns="0" rIns="0">
            <a:spAutoFit/>
          </a:bodyPr>
          <a:lstStyle/>
          <a:p>
            <a:pPr algn="l">
              <a:lnSpc>
                <a:spcPts val="4797"/>
              </a:lnSpc>
            </a:pPr>
            <a:r>
              <a:rPr lang="en-US" sz="3426">
                <a:solidFill>
                  <a:srgbClr val="FFFFFF"/>
                </a:solidFill>
                <a:latin typeface="Roboto"/>
                <a:ea typeface="Roboto"/>
                <a:cs typeface="Roboto"/>
                <a:sym typeface="Roboto"/>
              </a:rPr>
              <a:t>This leads to inequality and loss of independence.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12F6D"/>
        </a:solidFill>
      </p:bgPr>
    </p:bg>
    <p:spTree>
      <p:nvGrpSpPr>
        <p:cNvPr id="1" name=""/>
        <p:cNvGrpSpPr/>
        <p:nvPr/>
      </p:nvGrpSpPr>
      <p:grpSpPr>
        <a:xfrm>
          <a:off x="0" y="0"/>
          <a:ext cx="0" cy="0"/>
          <a:chOff x="0" y="0"/>
          <a:chExt cx="0" cy="0"/>
        </a:xfrm>
      </p:grpSpPr>
      <p:grpSp>
        <p:nvGrpSpPr>
          <p:cNvPr name="Group 2" id="2"/>
          <p:cNvGrpSpPr/>
          <p:nvPr/>
        </p:nvGrpSpPr>
        <p:grpSpPr>
          <a:xfrm rot="0">
            <a:off x="10174636" y="6133793"/>
            <a:ext cx="6907056" cy="3696133"/>
            <a:chOff x="0" y="0"/>
            <a:chExt cx="1819142" cy="973467"/>
          </a:xfrm>
        </p:grpSpPr>
        <p:sp>
          <p:nvSpPr>
            <p:cNvPr name="Freeform 3" id="3"/>
            <p:cNvSpPr/>
            <p:nvPr/>
          </p:nvSpPr>
          <p:spPr>
            <a:xfrm flipH="false" flipV="false" rot="0">
              <a:off x="0" y="0"/>
              <a:ext cx="1819142" cy="973467"/>
            </a:xfrm>
            <a:custGeom>
              <a:avLst/>
              <a:gdLst/>
              <a:ahLst/>
              <a:cxnLst/>
              <a:rect r="r" b="b" t="t" l="l"/>
              <a:pathLst>
                <a:path h="973467" w="1819142">
                  <a:moveTo>
                    <a:pt x="44835" y="0"/>
                  </a:moveTo>
                  <a:lnTo>
                    <a:pt x="1774307" y="0"/>
                  </a:lnTo>
                  <a:cubicBezTo>
                    <a:pt x="1786198" y="0"/>
                    <a:pt x="1797602" y="4724"/>
                    <a:pt x="1806010" y="13132"/>
                  </a:cubicBezTo>
                  <a:cubicBezTo>
                    <a:pt x="1814419" y="21540"/>
                    <a:pt x="1819142" y="32944"/>
                    <a:pt x="1819142" y="44835"/>
                  </a:cubicBezTo>
                  <a:lnTo>
                    <a:pt x="1819142" y="928632"/>
                  </a:lnTo>
                  <a:cubicBezTo>
                    <a:pt x="1819142" y="940523"/>
                    <a:pt x="1814419" y="951927"/>
                    <a:pt x="1806010" y="960335"/>
                  </a:cubicBezTo>
                  <a:cubicBezTo>
                    <a:pt x="1797602" y="968743"/>
                    <a:pt x="1786198" y="973467"/>
                    <a:pt x="1774307" y="973467"/>
                  </a:cubicBezTo>
                  <a:lnTo>
                    <a:pt x="44835" y="973467"/>
                  </a:lnTo>
                  <a:cubicBezTo>
                    <a:pt x="32944" y="973467"/>
                    <a:pt x="21540" y="968743"/>
                    <a:pt x="13132" y="960335"/>
                  </a:cubicBezTo>
                  <a:cubicBezTo>
                    <a:pt x="4724" y="951927"/>
                    <a:pt x="0" y="940523"/>
                    <a:pt x="0" y="928632"/>
                  </a:cubicBezTo>
                  <a:lnTo>
                    <a:pt x="0" y="44835"/>
                  </a:lnTo>
                  <a:cubicBezTo>
                    <a:pt x="0" y="32944"/>
                    <a:pt x="4724" y="21540"/>
                    <a:pt x="13132" y="13132"/>
                  </a:cubicBezTo>
                  <a:cubicBezTo>
                    <a:pt x="21540" y="4724"/>
                    <a:pt x="32944" y="0"/>
                    <a:pt x="44835" y="0"/>
                  </a:cubicBezTo>
                  <a:close/>
                </a:path>
              </a:pathLst>
            </a:custGeom>
            <a:solidFill>
              <a:srgbClr val="9E45C0"/>
            </a:solidFill>
          </p:spPr>
        </p:sp>
        <p:sp>
          <p:nvSpPr>
            <p:cNvPr name="TextBox 4" id="4"/>
            <p:cNvSpPr txBox="true"/>
            <p:nvPr/>
          </p:nvSpPr>
          <p:spPr>
            <a:xfrm>
              <a:off x="0" y="-57150"/>
              <a:ext cx="1819142" cy="1030617"/>
            </a:xfrm>
            <a:prstGeom prst="rect">
              <a:avLst/>
            </a:prstGeom>
          </p:spPr>
          <p:txBody>
            <a:bodyPr anchor="ctr" rtlCol="false" tIns="50800" lIns="50800" bIns="50800" rIns="50800"/>
            <a:lstStyle/>
            <a:p>
              <a:pPr algn="ctr">
                <a:lnSpc>
                  <a:spcPts val="3677"/>
                </a:lnSpc>
              </a:pPr>
            </a:p>
          </p:txBody>
        </p:sp>
      </p:grpSp>
      <p:grpSp>
        <p:nvGrpSpPr>
          <p:cNvPr name="Group 5" id="5"/>
          <p:cNvGrpSpPr/>
          <p:nvPr/>
        </p:nvGrpSpPr>
        <p:grpSpPr>
          <a:xfrm rot="0">
            <a:off x="1433008" y="6133793"/>
            <a:ext cx="5828143" cy="3527041"/>
            <a:chOff x="0" y="0"/>
            <a:chExt cx="1534984" cy="928933"/>
          </a:xfrm>
        </p:grpSpPr>
        <p:sp>
          <p:nvSpPr>
            <p:cNvPr name="Freeform 6" id="6"/>
            <p:cNvSpPr/>
            <p:nvPr/>
          </p:nvSpPr>
          <p:spPr>
            <a:xfrm flipH="false" flipV="false" rot="0">
              <a:off x="0" y="0"/>
              <a:ext cx="1534984" cy="928933"/>
            </a:xfrm>
            <a:custGeom>
              <a:avLst/>
              <a:gdLst/>
              <a:ahLst/>
              <a:cxnLst/>
              <a:rect r="r" b="b" t="t" l="l"/>
              <a:pathLst>
                <a:path h="928933" w="1534984">
                  <a:moveTo>
                    <a:pt x="53135" y="0"/>
                  </a:moveTo>
                  <a:lnTo>
                    <a:pt x="1481849" y="0"/>
                  </a:lnTo>
                  <a:cubicBezTo>
                    <a:pt x="1511195" y="0"/>
                    <a:pt x="1534984" y="23789"/>
                    <a:pt x="1534984" y="53135"/>
                  </a:cubicBezTo>
                  <a:lnTo>
                    <a:pt x="1534984" y="875798"/>
                  </a:lnTo>
                  <a:cubicBezTo>
                    <a:pt x="1534984" y="889890"/>
                    <a:pt x="1529386" y="903405"/>
                    <a:pt x="1519421" y="913370"/>
                  </a:cubicBezTo>
                  <a:cubicBezTo>
                    <a:pt x="1509457" y="923335"/>
                    <a:pt x="1495942" y="928933"/>
                    <a:pt x="1481849" y="928933"/>
                  </a:cubicBezTo>
                  <a:lnTo>
                    <a:pt x="53135" y="928933"/>
                  </a:lnTo>
                  <a:cubicBezTo>
                    <a:pt x="23789" y="928933"/>
                    <a:pt x="0" y="905143"/>
                    <a:pt x="0" y="875798"/>
                  </a:cubicBezTo>
                  <a:lnTo>
                    <a:pt x="0" y="53135"/>
                  </a:lnTo>
                  <a:cubicBezTo>
                    <a:pt x="0" y="23789"/>
                    <a:pt x="23789" y="0"/>
                    <a:pt x="53135" y="0"/>
                  </a:cubicBezTo>
                  <a:close/>
                </a:path>
              </a:pathLst>
            </a:custGeom>
            <a:solidFill>
              <a:srgbClr val="3A0D63"/>
            </a:solidFill>
          </p:spPr>
        </p:sp>
        <p:sp>
          <p:nvSpPr>
            <p:cNvPr name="TextBox 7" id="7"/>
            <p:cNvSpPr txBox="true"/>
            <p:nvPr/>
          </p:nvSpPr>
          <p:spPr>
            <a:xfrm>
              <a:off x="0" y="-57150"/>
              <a:ext cx="1534984" cy="986083"/>
            </a:xfrm>
            <a:prstGeom prst="rect">
              <a:avLst/>
            </a:prstGeom>
          </p:spPr>
          <p:txBody>
            <a:bodyPr anchor="ctr" rtlCol="false" tIns="50800" lIns="50800" bIns="50800" rIns="50800"/>
            <a:lstStyle/>
            <a:p>
              <a:pPr algn="ctr">
                <a:lnSpc>
                  <a:spcPts val="3677"/>
                </a:lnSpc>
              </a:pPr>
            </a:p>
          </p:txBody>
        </p:sp>
      </p:grpSp>
      <p:sp>
        <p:nvSpPr>
          <p:cNvPr name="TextBox 8" id="8"/>
          <p:cNvSpPr txBox="true"/>
          <p:nvPr/>
        </p:nvSpPr>
        <p:spPr>
          <a:xfrm rot="0">
            <a:off x="5498027" y="149261"/>
            <a:ext cx="7291946" cy="1464183"/>
          </a:xfrm>
          <a:prstGeom prst="rect">
            <a:avLst/>
          </a:prstGeom>
        </p:spPr>
        <p:txBody>
          <a:bodyPr anchor="t" rtlCol="false" tIns="0" lIns="0" bIns="0" rIns="0">
            <a:spAutoFit/>
          </a:bodyPr>
          <a:lstStyle/>
          <a:p>
            <a:pPr algn="ctr" marL="0" indent="0" lvl="1">
              <a:lnSpc>
                <a:spcPts val="8855"/>
              </a:lnSpc>
              <a:spcBef>
                <a:spcPct val="0"/>
              </a:spcBef>
            </a:pPr>
            <a:r>
              <a:rPr lang="en-US" sz="10800" spc="-378">
                <a:solidFill>
                  <a:srgbClr val="000000"/>
                </a:solidFill>
                <a:latin typeface="Cheddar"/>
                <a:ea typeface="Cheddar"/>
                <a:cs typeface="Cheddar"/>
                <a:sym typeface="Cheddar"/>
              </a:rPr>
              <a:t>THE PROJECT</a:t>
            </a:r>
          </a:p>
        </p:txBody>
      </p:sp>
      <p:grpSp>
        <p:nvGrpSpPr>
          <p:cNvPr name="Group 9" id="9"/>
          <p:cNvGrpSpPr/>
          <p:nvPr/>
        </p:nvGrpSpPr>
        <p:grpSpPr>
          <a:xfrm rot="0">
            <a:off x="812906" y="1462926"/>
            <a:ext cx="6909001" cy="4184203"/>
            <a:chOff x="0" y="0"/>
            <a:chExt cx="1819655" cy="1102012"/>
          </a:xfrm>
        </p:grpSpPr>
        <p:sp>
          <p:nvSpPr>
            <p:cNvPr name="Freeform 10" id="10"/>
            <p:cNvSpPr/>
            <p:nvPr/>
          </p:nvSpPr>
          <p:spPr>
            <a:xfrm flipH="false" flipV="false" rot="0">
              <a:off x="0" y="0"/>
              <a:ext cx="1819655" cy="1102012"/>
            </a:xfrm>
            <a:custGeom>
              <a:avLst/>
              <a:gdLst/>
              <a:ahLst/>
              <a:cxnLst/>
              <a:rect r="r" b="b" t="t" l="l"/>
              <a:pathLst>
                <a:path h="1102012" w="1819655">
                  <a:moveTo>
                    <a:pt x="44822" y="0"/>
                  </a:moveTo>
                  <a:lnTo>
                    <a:pt x="1774832" y="0"/>
                  </a:lnTo>
                  <a:cubicBezTo>
                    <a:pt x="1786720" y="0"/>
                    <a:pt x="1798121" y="4722"/>
                    <a:pt x="1806527" y="13128"/>
                  </a:cubicBezTo>
                  <a:cubicBezTo>
                    <a:pt x="1814932" y="21534"/>
                    <a:pt x="1819655" y="32935"/>
                    <a:pt x="1819655" y="44822"/>
                  </a:cubicBezTo>
                  <a:lnTo>
                    <a:pt x="1819655" y="1057190"/>
                  </a:lnTo>
                  <a:cubicBezTo>
                    <a:pt x="1819655" y="1069078"/>
                    <a:pt x="1814932" y="1080478"/>
                    <a:pt x="1806527" y="1088884"/>
                  </a:cubicBezTo>
                  <a:cubicBezTo>
                    <a:pt x="1798121" y="1097290"/>
                    <a:pt x="1786720" y="1102012"/>
                    <a:pt x="1774832" y="1102012"/>
                  </a:cubicBezTo>
                  <a:lnTo>
                    <a:pt x="44822" y="1102012"/>
                  </a:lnTo>
                  <a:cubicBezTo>
                    <a:pt x="32935" y="1102012"/>
                    <a:pt x="21534" y="1097290"/>
                    <a:pt x="13128" y="1088884"/>
                  </a:cubicBezTo>
                  <a:cubicBezTo>
                    <a:pt x="4722" y="1080478"/>
                    <a:pt x="0" y="1069078"/>
                    <a:pt x="0" y="1057190"/>
                  </a:cubicBezTo>
                  <a:lnTo>
                    <a:pt x="0" y="44822"/>
                  </a:lnTo>
                  <a:cubicBezTo>
                    <a:pt x="0" y="32935"/>
                    <a:pt x="4722" y="21534"/>
                    <a:pt x="13128" y="13128"/>
                  </a:cubicBezTo>
                  <a:cubicBezTo>
                    <a:pt x="21534" y="4722"/>
                    <a:pt x="32935" y="0"/>
                    <a:pt x="44822" y="0"/>
                  </a:cubicBezTo>
                  <a:close/>
                </a:path>
              </a:pathLst>
            </a:custGeom>
            <a:solidFill>
              <a:srgbClr val="6071EB"/>
            </a:solidFill>
          </p:spPr>
        </p:sp>
        <p:sp>
          <p:nvSpPr>
            <p:cNvPr name="TextBox 11" id="11"/>
            <p:cNvSpPr txBox="true"/>
            <p:nvPr/>
          </p:nvSpPr>
          <p:spPr>
            <a:xfrm>
              <a:off x="0" y="-57150"/>
              <a:ext cx="1819655" cy="1159162"/>
            </a:xfrm>
            <a:prstGeom prst="rect">
              <a:avLst/>
            </a:prstGeom>
          </p:spPr>
          <p:txBody>
            <a:bodyPr anchor="ctr" rtlCol="false" tIns="50800" lIns="50800" bIns="50800" rIns="50800"/>
            <a:lstStyle/>
            <a:p>
              <a:pPr algn="ctr">
                <a:lnSpc>
                  <a:spcPts val="3677"/>
                </a:lnSpc>
              </a:pPr>
            </a:p>
          </p:txBody>
        </p:sp>
      </p:grpSp>
      <p:sp>
        <p:nvSpPr>
          <p:cNvPr name="TextBox 12" id="12"/>
          <p:cNvSpPr txBox="true"/>
          <p:nvPr/>
        </p:nvSpPr>
        <p:spPr>
          <a:xfrm rot="0">
            <a:off x="1016858" y="2232569"/>
            <a:ext cx="6501098" cy="2911016"/>
          </a:xfrm>
          <a:prstGeom prst="rect">
            <a:avLst/>
          </a:prstGeom>
        </p:spPr>
        <p:txBody>
          <a:bodyPr anchor="t" rtlCol="false" tIns="0" lIns="0" bIns="0" rIns="0">
            <a:spAutoFit/>
          </a:bodyPr>
          <a:lstStyle/>
          <a:p>
            <a:pPr algn="ctr" marL="0" indent="0" lvl="1">
              <a:lnSpc>
                <a:spcPts val="3875"/>
              </a:lnSpc>
              <a:spcBef>
                <a:spcPct val="0"/>
              </a:spcBef>
            </a:pPr>
            <a:r>
              <a:rPr lang="en-US" sz="2768">
                <a:solidFill>
                  <a:srgbClr val="FFFFFF"/>
                </a:solidFill>
                <a:latin typeface="Roboto"/>
                <a:ea typeface="Roboto"/>
                <a:cs typeface="Roboto"/>
                <a:sym typeface="Roboto"/>
              </a:rPr>
              <a:t>In our tool AI Machine learning is uses to train models  to  recognize through ,the camera lence of a smart phone, the different  signs of pedestrian lights.Then via a sound signal the sustem will inform its user about the signs.</a:t>
            </a:r>
          </a:p>
        </p:txBody>
      </p:sp>
      <p:sp>
        <p:nvSpPr>
          <p:cNvPr name="TextBox 13" id="13"/>
          <p:cNvSpPr txBox="true"/>
          <p:nvPr/>
        </p:nvSpPr>
        <p:spPr>
          <a:xfrm rot="0">
            <a:off x="1433008" y="1451519"/>
            <a:ext cx="5740310" cy="847725"/>
          </a:xfrm>
          <a:prstGeom prst="rect">
            <a:avLst/>
          </a:prstGeom>
        </p:spPr>
        <p:txBody>
          <a:bodyPr anchor="t" rtlCol="false" tIns="0" lIns="0" bIns="0" rIns="0">
            <a:spAutoFit/>
          </a:bodyPr>
          <a:lstStyle/>
          <a:p>
            <a:pPr algn="ctr" marL="0" indent="0" lvl="1">
              <a:lnSpc>
                <a:spcPts val="6299"/>
              </a:lnSpc>
              <a:spcBef>
                <a:spcPct val="0"/>
              </a:spcBef>
            </a:pPr>
            <a:r>
              <a:rPr lang="en-US" sz="4500">
                <a:solidFill>
                  <a:srgbClr val="FFFFFF"/>
                </a:solidFill>
                <a:latin typeface="Cheddar"/>
                <a:ea typeface="Cheddar"/>
                <a:cs typeface="Cheddar"/>
                <a:sym typeface="Cheddar"/>
              </a:rPr>
              <a:t>MachIne learning </a:t>
            </a:r>
          </a:p>
        </p:txBody>
      </p:sp>
      <p:sp>
        <p:nvSpPr>
          <p:cNvPr name="TextBox 14" id="14"/>
          <p:cNvSpPr txBox="true"/>
          <p:nvPr/>
        </p:nvSpPr>
        <p:spPr>
          <a:xfrm rot="0">
            <a:off x="12301917" y="5971868"/>
            <a:ext cx="2652494" cy="847725"/>
          </a:xfrm>
          <a:prstGeom prst="rect">
            <a:avLst/>
          </a:prstGeom>
        </p:spPr>
        <p:txBody>
          <a:bodyPr anchor="t" rtlCol="false" tIns="0" lIns="0" bIns="0" rIns="0">
            <a:spAutoFit/>
          </a:bodyPr>
          <a:lstStyle/>
          <a:p>
            <a:pPr algn="ctr" marL="0" indent="0" lvl="1">
              <a:lnSpc>
                <a:spcPts val="6299"/>
              </a:lnSpc>
              <a:spcBef>
                <a:spcPct val="0"/>
              </a:spcBef>
            </a:pPr>
            <a:r>
              <a:rPr lang="en-US" sz="4500">
                <a:solidFill>
                  <a:srgbClr val="FFFFFF"/>
                </a:solidFill>
                <a:latin typeface="Cheddar"/>
                <a:ea typeface="Cheddar"/>
                <a:cs typeface="Cheddar"/>
                <a:sym typeface="Cheddar"/>
              </a:rPr>
              <a:t>EFFECT</a:t>
            </a:r>
          </a:p>
        </p:txBody>
      </p:sp>
      <p:sp>
        <p:nvSpPr>
          <p:cNvPr name="TextBox 15" id="15"/>
          <p:cNvSpPr txBox="true"/>
          <p:nvPr/>
        </p:nvSpPr>
        <p:spPr>
          <a:xfrm rot="0">
            <a:off x="10603349" y="6752918"/>
            <a:ext cx="6049631" cy="2967101"/>
          </a:xfrm>
          <a:prstGeom prst="rect">
            <a:avLst/>
          </a:prstGeom>
        </p:spPr>
        <p:txBody>
          <a:bodyPr anchor="t" rtlCol="false" tIns="0" lIns="0" bIns="0" rIns="0">
            <a:spAutoFit/>
          </a:bodyPr>
          <a:lstStyle/>
          <a:p>
            <a:pPr algn="ctr" marL="0" indent="0" lvl="1">
              <a:lnSpc>
                <a:spcPts val="3934"/>
              </a:lnSpc>
              <a:spcBef>
                <a:spcPct val="0"/>
              </a:spcBef>
            </a:pPr>
            <a:r>
              <a:rPr lang="en-US" sz="2810">
                <a:solidFill>
                  <a:srgbClr val="FFFFFF"/>
                </a:solidFill>
                <a:latin typeface="Roboto"/>
                <a:ea typeface="Roboto"/>
                <a:cs typeface="Roboto"/>
                <a:sym typeface="Roboto"/>
              </a:rPr>
              <a:t>Cities will become more sustainable and accessible for more citizens. Transportation becomes safer for disabled people and therefore allows all members of a community to grow and thrive.</a:t>
            </a:r>
          </a:p>
        </p:txBody>
      </p:sp>
      <p:grpSp>
        <p:nvGrpSpPr>
          <p:cNvPr name="Group 16" id="16"/>
          <p:cNvGrpSpPr/>
          <p:nvPr/>
        </p:nvGrpSpPr>
        <p:grpSpPr>
          <a:xfrm rot="0">
            <a:off x="9497297" y="1393043"/>
            <a:ext cx="8183792" cy="4365545"/>
            <a:chOff x="0" y="0"/>
            <a:chExt cx="1660548" cy="885799"/>
          </a:xfrm>
        </p:grpSpPr>
        <p:sp>
          <p:nvSpPr>
            <p:cNvPr name="Freeform 17" id="17"/>
            <p:cNvSpPr/>
            <p:nvPr/>
          </p:nvSpPr>
          <p:spPr>
            <a:xfrm flipH="false" flipV="false" rot="0">
              <a:off x="0" y="0"/>
              <a:ext cx="1660548" cy="885799"/>
            </a:xfrm>
            <a:custGeom>
              <a:avLst/>
              <a:gdLst/>
              <a:ahLst/>
              <a:cxnLst/>
              <a:rect r="r" b="b" t="t" l="l"/>
              <a:pathLst>
                <a:path h="885799" w="1660548">
                  <a:moveTo>
                    <a:pt x="94601" y="0"/>
                  </a:moveTo>
                  <a:lnTo>
                    <a:pt x="1565947" y="0"/>
                  </a:lnTo>
                  <a:cubicBezTo>
                    <a:pt x="1591037" y="0"/>
                    <a:pt x="1615099" y="9967"/>
                    <a:pt x="1632840" y="27708"/>
                  </a:cubicBezTo>
                  <a:cubicBezTo>
                    <a:pt x="1650581" y="45449"/>
                    <a:pt x="1660548" y="69511"/>
                    <a:pt x="1660548" y="94601"/>
                  </a:cubicBezTo>
                  <a:lnTo>
                    <a:pt x="1660548" y="791199"/>
                  </a:lnTo>
                  <a:cubicBezTo>
                    <a:pt x="1660548" y="843445"/>
                    <a:pt x="1618194" y="885799"/>
                    <a:pt x="1565947" y="885799"/>
                  </a:cubicBezTo>
                  <a:lnTo>
                    <a:pt x="94601" y="885799"/>
                  </a:lnTo>
                  <a:cubicBezTo>
                    <a:pt x="42354" y="885799"/>
                    <a:pt x="0" y="843445"/>
                    <a:pt x="0" y="791199"/>
                  </a:cubicBezTo>
                  <a:lnTo>
                    <a:pt x="0" y="94601"/>
                  </a:lnTo>
                  <a:cubicBezTo>
                    <a:pt x="0" y="42354"/>
                    <a:pt x="42354" y="0"/>
                    <a:pt x="94601" y="0"/>
                  </a:cubicBezTo>
                  <a:close/>
                </a:path>
              </a:pathLst>
            </a:custGeom>
            <a:blipFill>
              <a:blip r:embed="rId2"/>
              <a:stretch>
                <a:fillRect l="0" t="-1808" r="0" b="-1808"/>
              </a:stretch>
            </a:blipFill>
          </p:spPr>
        </p:sp>
      </p:grpSp>
      <p:sp>
        <p:nvSpPr>
          <p:cNvPr name="TextBox 18" id="18"/>
          <p:cNvSpPr txBox="true"/>
          <p:nvPr/>
        </p:nvSpPr>
        <p:spPr>
          <a:xfrm rot="0">
            <a:off x="1734292" y="6140959"/>
            <a:ext cx="5066230" cy="847725"/>
          </a:xfrm>
          <a:prstGeom prst="rect">
            <a:avLst/>
          </a:prstGeom>
        </p:spPr>
        <p:txBody>
          <a:bodyPr anchor="t" rtlCol="false" tIns="0" lIns="0" bIns="0" rIns="0">
            <a:spAutoFit/>
          </a:bodyPr>
          <a:lstStyle/>
          <a:p>
            <a:pPr algn="ctr" marL="0" indent="0" lvl="1">
              <a:lnSpc>
                <a:spcPts val="6299"/>
              </a:lnSpc>
              <a:spcBef>
                <a:spcPct val="0"/>
              </a:spcBef>
            </a:pPr>
            <a:r>
              <a:rPr lang="en-US" sz="4500">
                <a:solidFill>
                  <a:srgbClr val="FFFFFF"/>
                </a:solidFill>
                <a:latin typeface="Cheddar"/>
                <a:ea typeface="Cheddar"/>
                <a:cs typeface="Cheddar"/>
                <a:sym typeface="Cheddar"/>
              </a:rPr>
              <a:t>ArcgIS -fIELD MAPS</a:t>
            </a:r>
          </a:p>
        </p:txBody>
      </p:sp>
      <p:sp>
        <p:nvSpPr>
          <p:cNvPr name="TextBox 19" id="19"/>
          <p:cNvSpPr txBox="true"/>
          <p:nvPr/>
        </p:nvSpPr>
        <p:spPr>
          <a:xfrm rot="0">
            <a:off x="1980328" y="6922009"/>
            <a:ext cx="4574157" cy="2332515"/>
          </a:xfrm>
          <a:prstGeom prst="rect">
            <a:avLst/>
          </a:prstGeom>
        </p:spPr>
        <p:txBody>
          <a:bodyPr anchor="t" rtlCol="false" tIns="0" lIns="0" bIns="0" rIns="0">
            <a:spAutoFit/>
          </a:bodyPr>
          <a:lstStyle/>
          <a:p>
            <a:pPr algn="ctr" marL="0" indent="0" lvl="1">
              <a:lnSpc>
                <a:spcPts val="3736"/>
              </a:lnSpc>
              <a:spcBef>
                <a:spcPct val="0"/>
              </a:spcBef>
            </a:pPr>
            <a:r>
              <a:rPr lang="en-US" sz="2668">
                <a:solidFill>
                  <a:srgbClr val="FFFFFF"/>
                </a:solidFill>
                <a:latin typeface="Roboto"/>
                <a:ea typeface="Roboto"/>
                <a:cs typeface="Roboto"/>
                <a:sym typeface="Roboto"/>
              </a:rPr>
              <a:t>We created an accessibility map using the arcGIS app that helps disabled people navigate through the city more efficiently.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12F6D"/>
        </a:solidFill>
      </p:bgPr>
    </p:bg>
    <p:spTree>
      <p:nvGrpSpPr>
        <p:cNvPr id="1" name=""/>
        <p:cNvGrpSpPr/>
        <p:nvPr/>
      </p:nvGrpSpPr>
      <p:grpSpPr>
        <a:xfrm>
          <a:off x="0" y="0"/>
          <a:ext cx="0" cy="0"/>
          <a:chOff x="0" y="0"/>
          <a:chExt cx="0" cy="0"/>
        </a:xfrm>
      </p:grpSpPr>
      <p:grpSp>
        <p:nvGrpSpPr>
          <p:cNvPr name="Group 2" id="2"/>
          <p:cNvGrpSpPr/>
          <p:nvPr/>
        </p:nvGrpSpPr>
        <p:grpSpPr>
          <a:xfrm rot="0">
            <a:off x="2661135" y="5890338"/>
            <a:ext cx="9254438" cy="1067222"/>
            <a:chOff x="0" y="0"/>
            <a:chExt cx="2437383" cy="281079"/>
          </a:xfrm>
        </p:grpSpPr>
        <p:sp>
          <p:nvSpPr>
            <p:cNvPr name="Freeform 3" id="3"/>
            <p:cNvSpPr/>
            <p:nvPr/>
          </p:nvSpPr>
          <p:spPr>
            <a:xfrm flipH="false" flipV="false" rot="0">
              <a:off x="0" y="0"/>
              <a:ext cx="2437383" cy="281079"/>
            </a:xfrm>
            <a:custGeom>
              <a:avLst/>
              <a:gdLst/>
              <a:ahLst/>
              <a:cxnLst/>
              <a:rect r="r" b="b" t="t" l="l"/>
              <a:pathLst>
                <a:path h="281079" w="2437383">
                  <a:moveTo>
                    <a:pt x="14222" y="0"/>
                  </a:moveTo>
                  <a:lnTo>
                    <a:pt x="2423161" y="0"/>
                  </a:lnTo>
                  <a:cubicBezTo>
                    <a:pt x="2426933" y="0"/>
                    <a:pt x="2430550" y="1498"/>
                    <a:pt x="2433217" y="4165"/>
                  </a:cubicBezTo>
                  <a:cubicBezTo>
                    <a:pt x="2435884" y="6832"/>
                    <a:pt x="2437383" y="10450"/>
                    <a:pt x="2437383" y="14222"/>
                  </a:cubicBezTo>
                  <a:lnTo>
                    <a:pt x="2437383" y="266858"/>
                  </a:lnTo>
                  <a:cubicBezTo>
                    <a:pt x="2437383" y="274712"/>
                    <a:pt x="2431016" y="281079"/>
                    <a:pt x="2423161" y="281079"/>
                  </a:cubicBezTo>
                  <a:lnTo>
                    <a:pt x="14222" y="281079"/>
                  </a:lnTo>
                  <a:cubicBezTo>
                    <a:pt x="6367" y="281079"/>
                    <a:pt x="0" y="274712"/>
                    <a:pt x="0" y="266858"/>
                  </a:cubicBezTo>
                  <a:lnTo>
                    <a:pt x="0" y="14222"/>
                  </a:lnTo>
                  <a:cubicBezTo>
                    <a:pt x="0" y="6367"/>
                    <a:pt x="6367" y="0"/>
                    <a:pt x="14222" y="0"/>
                  </a:cubicBezTo>
                  <a:close/>
                </a:path>
              </a:pathLst>
            </a:custGeom>
            <a:solidFill>
              <a:srgbClr val="3A0D63"/>
            </a:solidFill>
          </p:spPr>
        </p:sp>
        <p:sp>
          <p:nvSpPr>
            <p:cNvPr name="TextBox 4" id="4"/>
            <p:cNvSpPr txBox="true"/>
            <p:nvPr/>
          </p:nvSpPr>
          <p:spPr>
            <a:xfrm>
              <a:off x="0" y="-47625"/>
              <a:ext cx="2437383" cy="328704"/>
            </a:xfrm>
            <a:prstGeom prst="rect">
              <a:avLst/>
            </a:prstGeom>
          </p:spPr>
          <p:txBody>
            <a:bodyPr anchor="ctr" rtlCol="false" tIns="50800" lIns="50800" bIns="50800" rIns="50800"/>
            <a:lstStyle/>
            <a:p>
              <a:pPr algn="ctr">
                <a:lnSpc>
                  <a:spcPts val="2795"/>
                </a:lnSpc>
              </a:pPr>
            </a:p>
          </p:txBody>
        </p:sp>
      </p:grpSp>
      <p:sp>
        <p:nvSpPr>
          <p:cNvPr name="Freeform 5" id="5"/>
          <p:cNvSpPr/>
          <p:nvPr/>
        </p:nvSpPr>
        <p:spPr>
          <a:xfrm flipH="false" flipV="false" rot="-2503978">
            <a:off x="-1426900" y="7522278"/>
            <a:ext cx="4911200" cy="2855814"/>
          </a:xfrm>
          <a:custGeom>
            <a:avLst/>
            <a:gdLst/>
            <a:ahLst/>
            <a:cxnLst/>
            <a:rect r="r" b="b" t="t" l="l"/>
            <a:pathLst>
              <a:path h="2855814" w="4911200">
                <a:moveTo>
                  <a:pt x="0" y="0"/>
                </a:moveTo>
                <a:lnTo>
                  <a:pt x="4911200" y="0"/>
                </a:lnTo>
                <a:lnTo>
                  <a:pt x="4911200" y="2855814"/>
                </a:lnTo>
                <a:lnTo>
                  <a:pt x="0" y="2855814"/>
                </a:lnTo>
                <a:lnTo>
                  <a:pt x="0" y="0"/>
                </a:lnTo>
                <a:close/>
              </a:path>
            </a:pathLst>
          </a:custGeom>
          <a:blipFill>
            <a:blip r:embed="rId2"/>
            <a:stretch>
              <a:fillRect l="-5304" t="0" r="-5304" b="0"/>
            </a:stretch>
          </a:blipFill>
        </p:spPr>
      </p:sp>
      <p:sp>
        <p:nvSpPr>
          <p:cNvPr name="Freeform 6" id="6"/>
          <p:cNvSpPr/>
          <p:nvPr/>
        </p:nvSpPr>
        <p:spPr>
          <a:xfrm flipH="false" flipV="false" rot="0">
            <a:off x="1945232" y="392014"/>
            <a:ext cx="10988834" cy="7548594"/>
          </a:xfrm>
          <a:custGeom>
            <a:avLst/>
            <a:gdLst/>
            <a:ahLst/>
            <a:cxnLst/>
            <a:rect r="r" b="b" t="t" l="l"/>
            <a:pathLst>
              <a:path h="7548594" w="10988834">
                <a:moveTo>
                  <a:pt x="0" y="0"/>
                </a:moveTo>
                <a:lnTo>
                  <a:pt x="10988834" y="0"/>
                </a:lnTo>
                <a:lnTo>
                  <a:pt x="10988834" y="7548595"/>
                </a:lnTo>
                <a:lnTo>
                  <a:pt x="0" y="7548595"/>
                </a:lnTo>
                <a:lnTo>
                  <a:pt x="0" y="0"/>
                </a:lnTo>
                <a:close/>
              </a:path>
            </a:pathLst>
          </a:custGeom>
          <a:blipFill>
            <a:blip r:embed="rId3">
              <a:extLst>
                <a:ext uri="{96DAC541-7B7A-43D3-8B79-37D633B846F1}">
                  <asvg:svgBlip xmlns:asvg="http://schemas.microsoft.com/office/drawing/2016/SVG/main" r:embed="rId4"/>
                </a:ext>
              </a:extLst>
            </a:blip>
            <a:stretch>
              <a:fillRect l="-1199" t="0" r="-1199" b="-817"/>
            </a:stretch>
          </a:blipFill>
        </p:spPr>
      </p:sp>
      <p:sp>
        <p:nvSpPr>
          <p:cNvPr name="TextBox 7" id="7"/>
          <p:cNvSpPr txBox="true"/>
          <p:nvPr/>
        </p:nvSpPr>
        <p:spPr>
          <a:xfrm rot="0">
            <a:off x="2430067" y="1209675"/>
            <a:ext cx="11932684" cy="1440308"/>
          </a:xfrm>
          <a:prstGeom prst="rect">
            <a:avLst/>
          </a:prstGeom>
        </p:spPr>
        <p:txBody>
          <a:bodyPr anchor="t" rtlCol="false" tIns="0" lIns="0" bIns="0" rIns="0">
            <a:spAutoFit/>
          </a:bodyPr>
          <a:lstStyle/>
          <a:p>
            <a:pPr algn="l" marL="0" indent="0" lvl="1">
              <a:lnSpc>
                <a:spcPts val="8774"/>
              </a:lnSpc>
              <a:spcBef>
                <a:spcPct val="0"/>
              </a:spcBef>
            </a:pPr>
            <a:r>
              <a:rPr lang="en-US" sz="10700" spc="-374">
                <a:solidFill>
                  <a:srgbClr val="00D9FF"/>
                </a:solidFill>
                <a:latin typeface="Cheddar"/>
                <a:ea typeface="Cheddar"/>
                <a:cs typeface="Cheddar"/>
                <a:sym typeface="Cheddar"/>
              </a:rPr>
              <a:t>MATERIALS / SOFTWARE</a:t>
            </a:r>
          </a:p>
        </p:txBody>
      </p:sp>
      <p:sp>
        <p:nvSpPr>
          <p:cNvPr name="TextBox 8" id="8"/>
          <p:cNvSpPr txBox="true"/>
          <p:nvPr/>
        </p:nvSpPr>
        <p:spPr>
          <a:xfrm rot="0">
            <a:off x="2217453" y="2887380"/>
            <a:ext cx="4138813" cy="2481663"/>
          </a:xfrm>
          <a:prstGeom prst="rect">
            <a:avLst/>
          </a:prstGeom>
        </p:spPr>
        <p:txBody>
          <a:bodyPr anchor="t" rtlCol="false" tIns="0" lIns="0" bIns="0" rIns="0">
            <a:spAutoFit/>
          </a:bodyPr>
          <a:lstStyle/>
          <a:p>
            <a:pPr algn="l" marL="603818" indent="-301909" lvl="1">
              <a:lnSpc>
                <a:spcPts val="3915"/>
              </a:lnSpc>
              <a:buFont typeface="Arial"/>
              <a:buChar char="•"/>
            </a:pPr>
            <a:r>
              <a:rPr lang="en-US" sz="2796">
                <a:solidFill>
                  <a:srgbClr val="FFFFFF"/>
                </a:solidFill>
                <a:latin typeface="Roboto"/>
                <a:ea typeface="Roboto"/>
                <a:cs typeface="Roboto"/>
                <a:sym typeface="Roboto"/>
              </a:rPr>
              <a:t>micro:bit</a:t>
            </a:r>
          </a:p>
          <a:p>
            <a:pPr algn="l" marL="603818" indent="-301909" lvl="1">
              <a:lnSpc>
                <a:spcPts val="3915"/>
              </a:lnSpc>
              <a:buFont typeface="Arial"/>
              <a:buChar char="•"/>
            </a:pPr>
            <a:r>
              <a:rPr lang="en-US" sz="2796">
                <a:solidFill>
                  <a:srgbClr val="FFFFFF"/>
                </a:solidFill>
                <a:latin typeface="Roboto"/>
                <a:ea typeface="Roboto"/>
                <a:cs typeface="Roboto"/>
                <a:sym typeface="Roboto"/>
              </a:rPr>
              <a:t>distance sensor </a:t>
            </a:r>
          </a:p>
          <a:p>
            <a:pPr algn="l" marL="603818" indent="-301909" lvl="1">
              <a:lnSpc>
                <a:spcPts val="3915"/>
              </a:lnSpc>
              <a:buFont typeface="Arial"/>
              <a:buChar char="•"/>
            </a:pPr>
            <a:r>
              <a:rPr lang="en-US" sz="2796">
                <a:solidFill>
                  <a:srgbClr val="FFFFFF"/>
                </a:solidFill>
                <a:latin typeface="Roboto"/>
                <a:ea typeface="Roboto"/>
                <a:cs typeface="Roboto"/>
                <a:sym typeface="Roboto"/>
              </a:rPr>
              <a:t>battery pack </a:t>
            </a:r>
          </a:p>
          <a:p>
            <a:pPr algn="l" marL="603818" indent="-301909" lvl="1">
              <a:lnSpc>
                <a:spcPts val="3915"/>
              </a:lnSpc>
              <a:buFont typeface="Arial"/>
              <a:buChar char="•"/>
            </a:pPr>
            <a:r>
              <a:rPr lang="en-US" sz="2796">
                <a:solidFill>
                  <a:srgbClr val="FFFFFF"/>
                </a:solidFill>
                <a:latin typeface="Roboto"/>
                <a:ea typeface="Roboto"/>
                <a:cs typeface="Roboto"/>
                <a:sym typeface="Roboto"/>
              </a:rPr>
              <a:t>phone</a:t>
            </a:r>
          </a:p>
          <a:p>
            <a:pPr algn="l" marL="603818" indent="-301909" lvl="1">
              <a:lnSpc>
                <a:spcPts val="3915"/>
              </a:lnSpc>
              <a:buFont typeface="Arial"/>
              <a:buChar char="•"/>
            </a:pPr>
            <a:r>
              <a:rPr lang="en-US" sz="2796">
                <a:solidFill>
                  <a:srgbClr val="FFFFFF"/>
                </a:solidFill>
                <a:latin typeface="Roboto"/>
                <a:ea typeface="Roboto"/>
                <a:cs typeface="Roboto"/>
                <a:sym typeface="Roboto"/>
              </a:rPr>
              <a:t>microbit case</a:t>
            </a:r>
          </a:p>
        </p:txBody>
      </p:sp>
      <p:sp>
        <p:nvSpPr>
          <p:cNvPr name="TextBox 9" id="9"/>
          <p:cNvSpPr txBox="true"/>
          <p:nvPr/>
        </p:nvSpPr>
        <p:spPr>
          <a:xfrm rot="0">
            <a:off x="7288354" y="2887380"/>
            <a:ext cx="3924982" cy="2481663"/>
          </a:xfrm>
          <a:prstGeom prst="rect">
            <a:avLst/>
          </a:prstGeom>
        </p:spPr>
        <p:txBody>
          <a:bodyPr anchor="t" rtlCol="false" tIns="0" lIns="0" bIns="0" rIns="0">
            <a:spAutoFit/>
          </a:bodyPr>
          <a:lstStyle/>
          <a:p>
            <a:pPr algn="l" marL="603818" indent="-301909" lvl="1">
              <a:lnSpc>
                <a:spcPts val="3915"/>
              </a:lnSpc>
              <a:buFont typeface="Arial"/>
              <a:buChar char="•"/>
            </a:pPr>
            <a:r>
              <a:rPr lang="en-US" sz="2796">
                <a:solidFill>
                  <a:srgbClr val="FFFFFF"/>
                </a:solidFill>
                <a:latin typeface="Roboto"/>
                <a:ea typeface="Roboto"/>
                <a:cs typeface="Roboto"/>
                <a:sym typeface="Roboto"/>
              </a:rPr>
              <a:t>microbit makecode</a:t>
            </a:r>
          </a:p>
          <a:p>
            <a:pPr algn="l" marL="603818" indent="-301909" lvl="1">
              <a:lnSpc>
                <a:spcPts val="3915"/>
              </a:lnSpc>
              <a:buFont typeface="Arial"/>
              <a:buChar char="•"/>
            </a:pPr>
            <a:r>
              <a:rPr lang="en-US" sz="2796">
                <a:solidFill>
                  <a:srgbClr val="FFFFFF"/>
                </a:solidFill>
                <a:latin typeface="Roboto"/>
                <a:ea typeface="Roboto"/>
                <a:cs typeface="Roboto"/>
                <a:sym typeface="Roboto"/>
              </a:rPr>
              <a:t>Teachable Machine</a:t>
            </a:r>
          </a:p>
          <a:p>
            <a:pPr algn="l" marL="603818" indent="-301909" lvl="1">
              <a:lnSpc>
                <a:spcPts val="3915"/>
              </a:lnSpc>
              <a:buFont typeface="Arial"/>
              <a:buChar char="•"/>
            </a:pPr>
            <a:r>
              <a:rPr lang="en-US" sz="2796">
                <a:solidFill>
                  <a:srgbClr val="FFFFFF"/>
                </a:solidFill>
                <a:latin typeface="Roboto"/>
                <a:ea typeface="Roboto"/>
                <a:cs typeface="Roboto"/>
                <a:sym typeface="Roboto"/>
              </a:rPr>
              <a:t>Lofi robot machine learning app</a:t>
            </a:r>
          </a:p>
          <a:p>
            <a:pPr algn="l" marL="603818" indent="-301909" lvl="1">
              <a:lnSpc>
                <a:spcPts val="3915"/>
              </a:lnSpc>
              <a:buFont typeface="Arial"/>
              <a:buChar char="•"/>
            </a:pPr>
            <a:r>
              <a:rPr lang="en-US" sz="2796">
                <a:solidFill>
                  <a:srgbClr val="FFFFFF"/>
                </a:solidFill>
                <a:latin typeface="Roboto"/>
                <a:ea typeface="Roboto"/>
                <a:cs typeface="Roboto"/>
                <a:sym typeface="Roboto"/>
              </a:rPr>
              <a:t>Tinkercad</a:t>
            </a:r>
          </a:p>
        </p:txBody>
      </p:sp>
      <p:sp>
        <p:nvSpPr>
          <p:cNvPr name="TextBox 10" id="10"/>
          <p:cNvSpPr txBox="true"/>
          <p:nvPr/>
        </p:nvSpPr>
        <p:spPr>
          <a:xfrm rot="0">
            <a:off x="2661135" y="2273887"/>
            <a:ext cx="2644595" cy="689693"/>
          </a:xfrm>
          <a:prstGeom prst="rect">
            <a:avLst/>
          </a:prstGeom>
        </p:spPr>
        <p:txBody>
          <a:bodyPr anchor="t" rtlCol="false" tIns="0" lIns="0" bIns="0" rIns="0">
            <a:spAutoFit/>
          </a:bodyPr>
          <a:lstStyle/>
          <a:p>
            <a:pPr algn="l">
              <a:lnSpc>
                <a:spcPts val="5035"/>
              </a:lnSpc>
            </a:pPr>
            <a:r>
              <a:rPr lang="en-US" sz="3596">
                <a:solidFill>
                  <a:srgbClr val="FFFFFF"/>
                </a:solidFill>
                <a:latin typeface="Cheddar"/>
                <a:ea typeface="Cheddar"/>
                <a:cs typeface="Cheddar"/>
                <a:sym typeface="Cheddar"/>
              </a:rPr>
              <a:t>MATERIALS</a:t>
            </a:r>
          </a:p>
        </p:txBody>
      </p:sp>
      <p:sp>
        <p:nvSpPr>
          <p:cNvPr name="TextBox 11" id="11"/>
          <p:cNvSpPr txBox="true"/>
          <p:nvPr/>
        </p:nvSpPr>
        <p:spPr>
          <a:xfrm rot="0">
            <a:off x="7821702" y="2273887"/>
            <a:ext cx="2644595" cy="689693"/>
          </a:xfrm>
          <a:prstGeom prst="rect">
            <a:avLst/>
          </a:prstGeom>
        </p:spPr>
        <p:txBody>
          <a:bodyPr anchor="t" rtlCol="false" tIns="0" lIns="0" bIns="0" rIns="0">
            <a:spAutoFit/>
          </a:bodyPr>
          <a:lstStyle/>
          <a:p>
            <a:pPr algn="l">
              <a:lnSpc>
                <a:spcPts val="5035"/>
              </a:lnSpc>
            </a:pPr>
            <a:r>
              <a:rPr lang="en-US" sz="3596">
                <a:solidFill>
                  <a:srgbClr val="FFFFFF"/>
                </a:solidFill>
                <a:latin typeface="Cheddar"/>
                <a:ea typeface="Cheddar"/>
                <a:cs typeface="Cheddar"/>
                <a:sym typeface="Cheddar"/>
              </a:rPr>
              <a:t>SOFTWARE</a:t>
            </a:r>
          </a:p>
        </p:txBody>
      </p:sp>
      <p:sp>
        <p:nvSpPr>
          <p:cNvPr name="TextBox 12" id="12"/>
          <p:cNvSpPr txBox="true"/>
          <p:nvPr/>
        </p:nvSpPr>
        <p:spPr>
          <a:xfrm rot="0">
            <a:off x="2430067" y="5428186"/>
            <a:ext cx="7344860" cy="995763"/>
          </a:xfrm>
          <a:prstGeom prst="rect">
            <a:avLst/>
          </a:prstGeom>
        </p:spPr>
        <p:txBody>
          <a:bodyPr anchor="t" rtlCol="false" tIns="0" lIns="0" bIns="0" rIns="0">
            <a:spAutoFit/>
          </a:bodyPr>
          <a:lstStyle/>
          <a:p>
            <a:pPr algn="l">
              <a:lnSpc>
                <a:spcPts val="3915"/>
              </a:lnSpc>
            </a:pPr>
            <a:r>
              <a:rPr lang="en-US" sz="2796">
                <a:solidFill>
                  <a:srgbClr val="FFFFFF"/>
                </a:solidFill>
                <a:latin typeface="Roboto"/>
                <a:ea typeface="Roboto"/>
                <a:cs typeface="Roboto"/>
                <a:sym typeface="Roboto"/>
              </a:rPr>
              <a:t>The use of the phone as a camera makes this tool accesible and easy to use. </a:t>
            </a:r>
          </a:p>
        </p:txBody>
      </p:sp>
      <p:grpSp>
        <p:nvGrpSpPr>
          <p:cNvPr name="Group 13" id="13"/>
          <p:cNvGrpSpPr/>
          <p:nvPr/>
        </p:nvGrpSpPr>
        <p:grpSpPr>
          <a:xfrm rot="0">
            <a:off x="13938687" y="588543"/>
            <a:ext cx="4015916" cy="3780121"/>
            <a:chOff x="0" y="0"/>
            <a:chExt cx="1027007" cy="966706"/>
          </a:xfrm>
        </p:grpSpPr>
        <p:sp>
          <p:nvSpPr>
            <p:cNvPr name="Freeform 14" id="14"/>
            <p:cNvSpPr/>
            <p:nvPr/>
          </p:nvSpPr>
          <p:spPr>
            <a:xfrm flipH="false" flipV="false" rot="0">
              <a:off x="0" y="0"/>
              <a:ext cx="1027007" cy="966706"/>
            </a:xfrm>
            <a:custGeom>
              <a:avLst/>
              <a:gdLst/>
              <a:ahLst/>
              <a:cxnLst/>
              <a:rect r="r" b="b" t="t" l="l"/>
              <a:pathLst>
                <a:path h="966706" w="1027007">
                  <a:moveTo>
                    <a:pt x="192781" y="0"/>
                  </a:moveTo>
                  <a:lnTo>
                    <a:pt x="834226" y="0"/>
                  </a:lnTo>
                  <a:cubicBezTo>
                    <a:pt x="885355" y="0"/>
                    <a:pt x="934389" y="20311"/>
                    <a:pt x="970543" y="56464"/>
                  </a:cubicBezTo>
                  <a:cubicBezTo>
                    <a:pt x="1006696" y="92618"/>
                    <a:pt x="1027007" y="141652"/>
                    <a:pt x="1027007" y="192781"/>
                  </a:cubicBezTo>
                  <a:lnTo>
                    <a:pt x="1027007" y="773925"/>
                  </a:lnTo>
                  <a:cubicBezTo>
                    <a:pt x="1027007" y="825054"/>
                    <a:pt x="1006696" y="874089"/>
                    <a:pt x="970543" y="910242"/>
                  </a:cubicBezTo>
                  <a:cubicBezTo>
                    <a:pt x="934389" y="946396"/>
                    <a:pt x="885355" y="966706"/>
                    <a:pt x="834226" y="966706"/>
                  </a:cubicBezTo>
                  <a:lnTo>
                    <a:pt x="192781" y="966706"/>
                  </a:lnTo>
                  <a:cubicBezTo>
                    <a:pt x="86311" y="966706"/>
                    <a:pt x="0" y="880395"/>
                    <a:pt x="0" y="773925"/>
                  </a:cubicBezTo>
                  <a:lnTo>
                    <a:pt x="0" y="192781"/>
                  </a:lnTo>
                  <a:cubicBezTo>
                    <a:pt x="0" y="141652"/>
                    <a:pt x="20311" y="92618"/>
                    <a:pt x="56464" y="56464"/>
                  </a:cubicBezTo>
                  <a:cubicBezTo>
                    <a:pt x="92618" y="20311"/>
                    <a:pt x="141652" y="0"/>
                    <a:pt x="192781" y="0"/>
                  </a:cubicBezTo>
                  <a:close/>
                </a:path>
              </a:pathLst>
            </a:custGeom>
            <a:blipFill>
              <a:blip r:embed="rId5"/>
              <a:stretch>
                <a:fillRect l="0" t="-64" r="0" b="-64"/>
              </a:stretch>
            </a:blipFill>
          </p:spPr>
        </p:sp>
      </p:grpSp>
      <p:grpSp>
        <p:nvGrpSpPr>
          <p:cNvPr name="Group 15" id="15"/>
          <p:cNvGrpSpPr/>
          <p:nvPr/>
        </p:nvGrpSpPr>
        <p:grpSpPr>
          <a:xfrm rot="0">
            <a:off x="13938687" y="4874248"/>
            <a:ext cx="4015916" cy="4166623"/>
            <a:chOff x="0" y="0"/>
            <a:chExt cx="1013699" cy="1051741"/>
          </a:xfrm>
        </p:grpSpPr>
        <p:sp>
          <p:nvSpPr>
            <p:cNvPr name="Freeform 16" id="16"/>
            <p:cNvSpPr/>
            <p:nvPr/>
          </p:nvSpPr>
          <p:spPr>
            <a:xfrm flipH="false" flipV="false" rot="0">
              <a:off x="0" y="0"/>
              <a:ext cx="1013699" cy="1051741"/>
            </a:xfrm>
            <a:custGeom>
              <a:avLst/>
              <a:gdLst/>
              <a:ahLst/>
              <a:cxnLst/>
              <a:rect r="r" b="b" t="t" l="l"/>
              <a:pathLst>
                <a:path h="1051741" w="1013699">
                  <a:moveTo>
                    <a:pt x="192781" y="0"/>
                  </a:moveTo>
                  <a:lnTo>
                    <a:pt x="820918" y="0"/>
                  </a:lnTo>
                  <a:cubicBezTo>
                    <a:pt x="872047" y="0"/>
                    <a:pt x="921081" y="20311"/>
                    <a:pt x="957235" y="56464"/>
                  </a:cubicBezTo>
                  <a:cubicBezTo>
                    <a:pt x="993388" y="92618"/>
                    <a:pt x="1013699" y="141652"/>
                    <a:pt x="1013699" y="192781"/>
                  </a:cubicBezTo>
                  <a:lnTo>
                    <a:pt x="1013699" y="858960"/>
                  </a:lnTo>
                  <a:cubicBezTo>
                    <a:pt x="1013699" y="965430"/>
                    <a:pt x="927388" y="1051741"/>
                    <a:pt x="820918" y="1051741"/>
                  </a:cubicBezTo>
                  <a:lnTo>
                    <a:pt x="192781" y="1051741"/>
                  </a:lnTo>
                  <a:cubicBezTo>
                    <a:pt x="141652" y="1051741"/>
                    <a:pt x="92618" y="1031430"/>
                    <a:pt x="56464" y="995277"/>
                  </a:cubicBezTo>
                  <a:cubicBezTo>
                    <a:pt x="20311" y="959123"/>
                    <a:pt x="0" y="910088"/>
                    <a:pt x="0" y="858960"/>
                  </a:cubicBezTo>
                  <a:lnTo>
                    <a:pt x="0" y="192781"/>
                  </a:lnTo>
                  <a:cubicBezTo>
                    <a:pt x="0" y="141652"/>
                    <a:pt x="20311" y="92618"/>
                    <a:pt x="56464" y="56464"/>
                  </a:cubicBezTo>
                  <a:cubicBezTo>
                    <a:pt x="92618" y="20311"/>
                    <a:pt x="141652" y="0"/>
                    <a:pt x="192781" y="0"/>
                  </a:cubicBezTo>
                  <a:close/>
                </a:path>
              </a:pathLst>
            </a:custGeom>
            <a:blipFill>
              <a:blip r:embed="rId6"/>
              <a:stretch>
                <a:fillRect l="0" t="-14333" r="0" b="-14333"/>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12F6D"/>
        </a:solidFill>
      </p:bgPr>
    </p:bg>
    <p:spTree>
      <p:nvGrpSpPr>
        <p:cNvPr id="1" name=""/>
        <p:cNvGrpSpPr/>
        <p:nvPr/>
      </p:nvGrpSpPr>
      <p:grpSpPr>
        <a:xfrm>
          <a:off x="0" y="0"/>
          <a:ext cx="0" cy="0"/>
          <a:chOff x="0" y="0"/>
          <a:chExt cx="0" cy="0"/>
        </a:xfrm>
      </p:grpSpPr>
      <p:sp>
        <p:nvSpPr>
          <p:cNvPr name="AutoShape 2" id="2"/>
          <p:cNvSpPr/>
          <p:nvPr/>
        </p:nvSpPr>
        <p:spPr>
          <a:xfrm flipV="true">
            <a:off x="1965546" y="2771369"/>
            <a:ext cx="0" cy="6492240"/>
          </a:xfrm>
          <a:prstGeom prst="line">
            <a:avLst/>
          </a:prstGeom>
          <a:ln cap="flat" w="38100">
            <a:solidFill>
              <a:srgbClr val="FFFFFF"/>
            </a:solidFill>
            <a:prstDash val="solid"/>
            <a:headEnd type="none" len="sm" w="sm"/>
            <a:tailEnd type="none" len="sm" w="sm"/>
          </a:ln>
        </p:spPr>
      </p:sp>
      <p:sp>
        <p:nvSpPr>
          <p:cNvPr name="Freeform 3" id="3"/>
          <p:cNvSpPr/>
          <p:nvPr/>
        </p:nvSpPr>
        <p:spPr>
          <a:xfrm flipH="false" flipV="false" rot="0">
            <a:off x="1572183" y="3080752"/>
            <a:ext cx="786727" cy="790018"/>
          </a:xfrm>
          <a:custGeom>
            <a:avLst/>
            <a:gdLst/>
            <a:ahLst/>
            <a:cxnLst/>
            <a:rect r="r" b="b" t="t" l="l"/>
            <a:pathLst>
              <a:path h="790018" w="786727">
                <a:moveTo>
                  <a:pt x="0" y="0"/>
                </a:moveTo>
                <a:lnTo>
                  <a:pt x="786726" y="0"/>
                </a:lnTo>
                <a:lnTo>
                  <a:pt x="786726" y="790019"/>
                </a:lnTo>
                <a:lnTo>
                  <a:pt x="0" y="7900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72183" y="4067412"/>
            <a:ext cx="786727" cy="790018"/>
          </a:xfrm>
          <a:custGeom>
            <a:avLst/>
            <a:gdLst/>
            <a:ahLst/>
            <a:cxnLst/>
            <a:rect r="r" b="b" t="t" l="l"/>
            <a:pathLst>
              <a:path h="790018" w="786727">
                <a:moveTo>
                  <a:pt x="0" y="0"/>
                </a:moveTo>
                <a:lnTo>
                  <a:pt x="786726" y="0"/>
                </a:lnTo>
                <a:lnTo>
                  <a:pt x="786726" y="790018"/>
                </a:lnTo>
                <a:lnTo>
                  <a:pt x="0" y="7900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572183" y="5227470"/>
            <a:ext cx="786727" cy="790018"/>
          </a:xfrm>
          <a:custGeom>
            <a:avLst/>
            <a:gdLst/>
            <a:ahLst/>
            <a:cxnLst/>
            <a:rect r="r" b="b" t="t" l="l"/>
            <a:pathLst>
              <a:path h="790018" w="786727">
                <a:moveTo>
                  <a:pt x="0" y="0"/>
                </a:moveTo>
                <a:lnTo>
                  <a:pt x="786726" y="0"/>
                </a:lnTo>
                <a:lnTo>
                  <a:pt x="786726" y="790019"/>
                </a:lnTo>
                <a:lnTo>
                  <a:pt x="0" y="7900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572183" y="6387528"/>
            <a:ext cx="786727" cy="790018"/>
          </a:xfrm>
          <a:custGeom>
            <a:avLst/>
            <a:gdLst/>
            <a:ahLst/>
            <a:cxnLst/>
            <a:rect r="r" b="b" t="t" l="l"/>
            <a:pathLst>
              <a:path h="790018" w="786727">
                <a:moveTo>
                  <a:pt x="0" y="0"/>
                </a:moveTo>
                <a:lnTo>
                  <a:pt x="786726" y="0"/>
                </a:lnTo>
                <a:lnTo>
                  <a:pt x="786726" y="790019"/>
                </a:lnTo>
                <a:lnTo>
                  <a:pt x="0" y="7900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572183" y="7549022"/>
            <a:ext cx="786727" cy="790018"/>
          </a:xfrm>
          <a:custGeom>
            <a:avLst/>
            <a:gdLst/>
            <a:ahLst/>
            <a:cxnLst/>
            <a:rect r="r" b="b" t="t" l="l"/>
            <a:pathLst>
              <a:path h="790018" w="786727">
                <a:moveTo>
                  <a:pt x="0" y="0"/>
                </a:moveTo>
                <a:lnTo>
                  <a:pt x="786726" y="0"/>
                </a:lnTo>
                <a:lnTo>
                  <a:pt x="786726" y="790018"/>
                </a:lnTo>
                <a:lnTo>
                  <a:pt x="0" y="7900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1543589" y="2121006"/>
            <a:ext cx="815320" cy="81532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0D63"/>
            </a:solidFill>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2795"/>
                </a:lnSpc>
              </a:pPr>
            </a:p>
          </p:txBody>
        </p:sp>
      </p:grpSp>
      <p:grpSp>
        <p:nvGrpSpPr>
          <p:cNvPr name="Group 11" id="11"/>
          <p:cNvGrpSpPr/>
          <p:nvPr/>
        </p:nvGrpSpPr>
        <p:grpSpPr>
          <a:xfrm rot="0">
            <a:off x="1572183" y="9024840"/>
            <a:ext cx="815320" cy="81532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0D63"/>
            </a:solidFill>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2795"/>
                </a:lnSpc>
              </a:pPr>
            </a:p>
          </p:txBody>
        </p:sp>
      </p:grpSp>
      <p:sp>
        <p:nvSpPr>
          <p:cNvPr name="Freeform 14" id="14"/>
          <p:cNvSpPr/>
          <p:nvPr/>
        </p:nvSpPr>
        <p:spPr>
          <a:xfrm flipH="false" flipV="false" rot="0">
            <a:off x="9144000" y="1387132"/>
            <a:ext cx="8115300" cy="7680676"/>
          </a:xfrm>
          <a:custGeom>
            <a:avLst/>
            <a:gdLst/>
            <a:ahLst/>
            <a:cxnLst/>
            <a:rect r="r" b="b" t="t" l="l"/>
            <a:pathLst>
              <a:path h="7680676" w="8115300">
                <a:moveTo>
                  <a:pt x="0" y="0"/>
                </a:moveTo>
                <a:lnTo>
                  <a:pt x="8115300" y="0"/>
                </a:lnTo>
                <a:lnTo>
                  <a:pt x="8115300" y="7680676"/>
                </a:lnTo>
                <a:lnTo>
                  <a:pt x="0" y="7680676"/>
                </a:lnTo>
                <a:lnTo>
                  <a:pt x="0" y="0"/>
                </a:lnTo>
                <a:close/>
              </a:path>
            </a:pathLst>
          </a:custGeom>
          <a:blipFill>
            <a:blip r:embed="rId4"/>
            <a:stretch>
              <a:fillRect l="-3618" t="0" r="0" b="-999"/>
            </a:stretch>
          </a:blipFill>
        </p:spPr>
      </p:sp>
      <p:sp>
        <p:nvSpPr>
          <p:cNvPr name="TextBox 15" id="15"/>
          <p:cNvSpPr txBox="true"/>
          <p:nvPr/>
        </p:nvSpPr>
        <p:spPr>
          <a:xfrm rot="0">
            <a:off x="1028700" y="366373"/>
            <a:ext cx="7291946" cy="1440308"/>
          </a:xfrm>
          <a:prstGeom prst="rect">
            <a:avLst/>
          </a:prstGeom>
        </p:spPr>
        <p:txBody>
          <a:bodyPr anchor="t" rtlCol="false" tIns="0" lIns="0" bIns="0" rIns="0">
            <a:spAutoFit/>
          </a:bodyPr>
          <a:lstStyle/>
          <a:p>
            <a:pPr algn="ctr" marL="0" indent="0" lvl="1">
              <a:lnSpc>
                <a:spcPts val="8774"/>
              </a:lnSpc>
              <a:spcBef>
                <a:spcPct val="0"/>
              </a:spcBef>
            </a:pPr>
            <a:r>
              <a:rPr lang="en-US" sz="10700" spc="-374">
                <a:solidFill>
                  <a:srgbClr val="000000"/>
                </a:solidFill>
                <a:latin typeface="Cheddar"/>
                <a:ea typeface="Cheddar"/>
                <a:cs typeface="Cheddar"/>
                <a:sym typeface="Cheddar"/>
              </a:rPr>
              <a:t>TIMELINE</a:t>
            </a:r>
          </a:p>
        </p:txBody>
      </p:sp>
      <p:sp>
        <p:nvSpPr>
          <p:cNvPr name="TextBox 16" id="16"/>
          <p:cNvSpPr txBox="true"/>
          <p:nvPr/>
        </p:nvSpPr>
        <p:spPr>
          <a:xfrm rot="0">
            <a:off x="1706049" y="3217696"/>
            <a:ext cx="518993" cy="480190"/>
          </a:xfrm>
          <a:prstGeom prst="rect">
            <a:avLst/>
          </a:prstGeom>
        </p:spPr>
        <p:txBody>
          <a:bodyPr anchor="t" rtlCol="false" tIns="0" lIns="0" bIns="0" rIns="0">
            <a:spAutoFit/>
          </a:bodyPr>
          <a:lstStyle/>
          <a:p>
            <a:pPr algn="ctr" marL="0" indent="0" lvl="1">
              <a:lnSpc>
                <a:spcPts val="2980"/>
              </a:lnSpc>
              <a:spcBef>
                <a:spcPct val="0"/>
              </a:spcBef>
            </a:pPr>
            <a:r>
              <a:rPr lang="en-US" sz="3634" spc="-127">
                <a:solidFill>
                  <a:srgbClr val="00D9FF"/>
                </a:solidFill>
                <a:latin typeface="Cheddar"/>
                <a:ea typeface="Cheddar"/>
                <a:cs typeface="Cheddar"/>
                <a:sym typeface="Cheddar"/>
              </a:rPr>
              <a:t>1</a:t>
            </a:r>
          </a:p>
        </p:txBody>
      </p:sp>
      <p:sp>
        <p:nvSpPr>
          <p:cNvPr name="TextBox 17" id="17"/>
          <p:cNvSpPr txBox="true"/>
          <p:nvPr/>
        </p:nvSpPr>
        <p:spPr>
          <a:xfrm rot="0">
            <a:off x="2358909" y="3091713"/>
            <a:ext cx="8619594" cy="765258"/>
          </a:xfrm>
          <a:prstGeom prst="rect">
            <a:avLst/>
          </a:prstGeom>
        </p:spPr>
        <p:txBody>
          <a:bodyPr anchor="t" rtlCol="false" tIns="0" lIns="0" bIns="0" rIns="0">
            <a:spAutoFit/>
          </a:bodyPr>
          <a:lstStyle/>
          <a:p>
            <a:pPr algn="just" marL="0" indent="0" lvl="1">
              <a:lnSpc>
                <a:spcPts val="5595"/>
              </a:lnSpc>
              <a:spcBef>
                <a:spcPct val="0"/>
              </a:spcBef>
            </a:pPr>
            <a:r>
              <a:rPr lang="en-US" sz="3996">
                <a:solidFill>
                  <a:srgbClr val="FFFFFF"/>
                </a:solidFill>
                <a:latin typeface="Cheddar"/>
                <a:ea typeface="Cheddar"/>
                <a:cs typeface="Cheddar"/>
                <a:sym typeface="Cheddar"/>
              </a:rPr>
              <a:t>Designing the idea of the project</a:t>
            </a:r>
          </a:p>
        </p:txBody>
      </p:sp>
      <p:sp>
        <p:nvSpPr>
          <p:cNvPr name="TextBox 18" id="18"/>
          <p:cNvSpPr txBox="true"/>
          <p:nvPr/>
        </p:nvSpPr>
        <p:spPr>
          <a:xfrm rot="0">
            <a:off x="1706049" y="4204355"/>
            <a:ext cx="518993" cy="480190"/>
          </a:xfrm>
          <a:prstGeom prst="rect">
            <a:avLst/>
          </a:prstGeom>
        </p:spPr>
        <p:txBody>
          <a:bodyPr anchor="t" rtlCol="false" tIns="0" lIns="0" bIns="0" rIns="0">
            <a:spAutoFit/>
          </a:bodyPr>
          <a:lstStyle/>
          <a:p>
            <a:pPr algn="ctr" marL="0" indent="0" lvl="1">
              <a:lnSpc>
                <a:spcPts val="2980"/>
              </a:lnSpc>
              <a:spcBef>
                <a:spcPct val="0"/>
              </a:spcBef>
            </a:pPr>
            <a:r>
              <a:rPr lang="en-US" sz="3634" spc="-127">
                <a:solidFill>
                  <a:srgbClr val="00D9FF"/>
                </a:solidFill>
                <a:latin typeface="Cheddar"/>
                <a:ea typeface="Cheddar"/>
                <a:cs typeface="Cheddar"/>
                <a:sym typeface="Cheddar"/>
              </a:rPr>
              <a:t>2</a:t>
            </a:r>
          </a:p>
        </p:txBody>
      </p:sp>
      <p:sp>
        <p:nvSpPr>
          <p:cNvPr name="TextBox 19" id="19"/>
          <p:cNvSpPr txBox="true"/>
          <p:nvPr/>
        </p:nvSpPr>
        <p:spPr>
          <a:xfrm rot="0">
            <a:off x="1706049" y="5364414"/>
            <a:ext cx="518993" cy="480190"/>
          </a:xfrm>
          <a:prstGeom prst="rect">
            <a:avLst/>
          </a:prstGeom>
        </p:spPr>
        <p:txBody>
          <a:bodyPr anchor="t" rtlCol="false" tIns="0" lIns="0" bIns="0" rIns="0">
            <a:spAutoFit/>
          </a:bodyPr>
          <a:lstStyle/>
          <a:p>
            <a:pPr algn="ctr" marL="0" indent="0" lvl="1">
              <a:lnSpc>
                <a:spcPts val="2980"/>
              </a:lnSpc>
              <a:spcBef>
                <a:spcPct val="0"/>
              </a:spcBef>
            </a:pPr>
            <a:r>
              <a:rPr lang="en-US" sz="3634" spc="-127">
                <a:solidFill>
                  <a:srgbClr val="00D9FF"/>
                </a:solidFill>
                <a:latin typeface="Cheddar"/>
                <a:ea typeface="Cheddar"/>
                <a:cs typeface="Cheddar"/>
                <a:sym typeface="Cheddar"/>
              </a:rPr>
              <a:t>3</a:t>
            </a:r>
          </a:p>
        </p:txBody>
      </p:sp>
      <p:sp>
        <p:nvSpPr>
          <p:cNvPr name="TextBox 20" id="20"/>
          <p:cNvSpPr txBox="true"/>
          <p:nvPr/>
        </p:nvSpPr>
        <p:spPr>
          <a:xfrm rot="0">
            <a:off x="1706049" y="6524472"/>
            <a:ext cx="518993" cy="480190"/>
          </a:xfrm>
          <a:prstGeom prst="rect">
            <a:avLst/>
          </a:prstGeom>
        </p:spPr>
        <p:txBody>
          <a:bodyPr anchor="t" rtlCol="false" tIns="0" lIns="0" bIns="0" rIns="0">
            <a:spAutoFit/>
          </a:bodyPr>
          <a:lstStyle/>
          <a:p>
            <a:pPr algn="ctr" marL="0" indent="0" lvl="1">
              <a:lnSpc>
                <a:spcPts val="2980"/>
              </a:lnSpc>
              <a:spcBef>
                <a:spcPct val="0"/>
              </a:spcBef>
            </a:pPr>
            <a:r>
              <a:rPr lang="en-US" sz="3634" spc="-127">
                <a:solidFill>
                  <a:srgbClr val="00D9FF"/>
                </a:solidFill>
                <a:latin typeface="Cheddar"/>
                <a:ea typeface="Cheddar"/>
                <a:cs typeface="Cheddar"/>
                <a:sym typeface="Cheddar"/>
              </a:rPr>
              <a:t>4</a:t>
            </a:r>
          </a:p>
        </p:txBody>
      </p:sp>
      <p:sp>
        <p:nvSpPr>
          <p:cNvPr name="TextBox 21" id="21"/>
          <p:cNvSpPr txBox="true"/>
          <p:nvPr/>
        </p:nvSpPr>
        <p:spPr>
          <a:xfrm rot="0">
            <a:off x="1706049" y="7659218"/>
            <a:ext cx="518993" cy="504066"/>
          </a:xfrm>
          <a:prstGeom prst="rect">
            <a:avLst/>
          </a:prstGeom>
        </p:spPr>
        <p:txBody>
          <a:bodyPr anchor="t" rtlCol="false" tIns="0" lIns="0" bIns="0" rIns="0">
            <a:spAutoFit/>
          </a:bodyPr>
          <a:lstStyle/>
          <a:p>
            <a:pPr algn="ctr" marL="0" indent="0" lvl="1">
              <a:lnSpc>
                <a:spcPts val="3062"/>
              </a:lnSpc>
              <a:spcBef>
                <a:spcPct val="0"/>
              </a:spcBef>
            </a:pPr>
            <a:r>
              <a:rPr lang="en-US" sz="3734" spc="-130">
                <a:solidFill>
                  <a:srgbClr val="00D9FF"/>
                </a:solidFill>
                <a:latin typeface="Cheddar"/>
                <a:ea typeface="Cheddar"/>
                <a:cs typeface="Cheddar"/>
                <a:sym typeface="Cheddar"/>
              </a:rPr>
              <a:t>5</a:t>
            </a:r>
          </a:p>
        </p:txBody>
      </p:sp>
      <p:sp>
        <p:nvSpPr>
          <p:cNvPr name="TextBox 22" id="22"/>
          <p:cNvSpPr txBox="true"/>
          <p:nvPr/>
        </p:nvSpPr>
        <p:spPr>
          <a:xfrm rot="0">
            <a:off x="2358909" y="4051852"/>
            <a:ext cx="8619594" cy="765258"/>
          </a:xfrm>
          <a:prstGeom prst="rect">
            <a:avLst/>
          </a:prstGeom>
        </p:spPr>
        <p:txBody>
          <a:bodyPr anchor="t" rtlCol="false" tIns="0" lIns="0" bIns="0" rIns="0">
            <a:spAutoFit/>
          </a:bodyPr>
          <a:lstStyle/>
          <a:p>
            <a:pPr algn="just" marL="0" indent="0" lvl="1">
              <a:lnSpc>
                <a:spcPts val="5595"/>
              </a:lnSpc>
              <a:spcBef>
                <a:spcPct val="0"/>
              </a:spcBef>
            </a:pPr>
            <a:r>
              <a:rPr lang="en-US" sz="3996">
                <a:solidFill>
                  <a:srgbClr val="FFFFFF"/>
                </a:solidFill>
                <a:latin typeface="Cheddar"/>
                <a:ea typeface="Cheddar"/>
                <a:cs typeface="Cheddar"/>
                <a:sym typeface="Cheddar"/>
              </a:rPr>
              <a:t>Training the machine learning </a:t>
            </a:r>
          </a:p>
        </p:txBody>
      </p:sp>
      <p:sp>
        <p:nvSpPr>
          <p:cNvPr name="TextBox 23" id="23"/>
          <p:cNvSpPr txBox="true"/>
          <p:nvPr/>
        </p:nvSpPr>
        <p:spPr>
          <a:xfrm rot="0">
            <a:off x="2358909" y="5211910"/>
            <a:ext cx="8619594" cy="765258"/>
          </a:xfrm>
          <a:prstGeom prst="rect">
            <a:avLst/>
          </a:prstGeom>
        </p:spPr>
        <p:txBody>
          <a:bodyPr anchor="t" rtlCol="false" tIns="0" lIns="0" bIns="0" rIns="0">
            <a:spAutoFit/>
          </a:bodyPr>
          <a:lstStyle/>
          <a:p>
            <a:pPr algn="just" marL="0" indent="0" lvl="1">
              <a:lnSpc>
                <a:spcPts val="5595"/>
              </a:lnSpc>
              <a:spcBef>
                <a:spcPct val="0"/>
              </a:spcBef>
            </a:pPr>
            <a:r>
              <a:rPr lang="en-US" sz="3996">
                <a:solidFill>
                  <a:srgbClr val="FFFFFF"/>
                </a:solidFill>
                <a:latin typeface="Cheddar"/>
                <a:ea typeface="Cheddar"/>
                <a:cs typeface="Cheddar"/>
                <a:sym typeface="Cheddar"/>
              </a:rPr>
              <a:t>Coding the microbit </a:t>
            </a:r>
          </a:p>
        </p:txBody>
      </p:sp>
      <p:sp>
        <p:nvSpPr>
          <p:cNvPr name="TextBox 24" id="24"/>
          <p:cNvSpPr txBox="true"/>
          <p:nvPr/>
        </p:nvSpPr>
        <p:spPr>
          <a:xfrm rot="0">
            <a:off x="2358909" y="6369914"/>
            <a:ext cx="8619594" cy="765258"/>
          </a:xfrm>
          <a:prstGeom prst="rect">
            <a:avLst/>
          </a:prstGeom>
        </p:spPr>
        <p:txBody>
          <a:bodyPr anchor="t" rtlCol="false" tIns="0" lIns="0" bIns="0" rIns="0">
            <a:spAutoFit/>
          </a:bodyPr>
          <a:lstStyle/>
          <a:p>
            <a:pPr algn="just" marL="0" indent="0" lvl="1">
              <a:lnSpc>
                <a:spcPts val="5595"/>
              </a:lnSpc>
              <a:spcBef>
                <a:spcPct val="0"/>
              </a:spcBef>
            </a:pPr>
            <a:r>
              <a:rPr lang="en-US" sz="3996">
                <a:solidFill>
                  <a:srgbClr val="FFFFFF"/>
                </a:solidFill>
                <a:latin typeface="Cheddar"/>
                <a:ea typeface="Cheddar"/>
                <a:cs typeface="Cheddar"/>
                <a:sym typeface="Cheddar"/>
              </a:rPr>
              <a:t>ASSEMBLING THE HAT </a:t>
            </a:r>
          </a:p>
        </p:txBody>
      </p:sp>
      <p:sp>
        <p:nvSpPr>
          <p:cNvPr name="TextBox 25" id="25"/>
          <p:cNvSpPr txBox="true"/>
          <p:nvPr/>
        </p:nvSpPr>
        <p:spPr>
          <a:xfrm rot="0">
            <a:off x="2358909" y="7504071"/>
            <a:ext cx="8619594" cy="765258"/>
          </a:xfrm>
          <a:prstGeom prst="rect">
            <a:avLst/>
          </a:prstGeom>
        </p:spPr>
        <p:txBody>
          <a:bodyPr anchor="t" rtlCol="false" tIns="0" lIns="0" bIns="0" rIns="0">
            <a:spAutoFit/>
          </a:bodyPr>
          <a:lstStyle/>
          <a:p>
            <a:pPr algn="just" marL="0" indent="0" lvl="1">
              <a:lnSpc>
                <a:spcPts val="5595"/>
              </a:lnSpc>
              <a:spcBef>
                <a:spcPct val="0"/>
              </a:spcBef>
            </a:pPr>
            <a:r>
              <a:rPr lang="en-US" sz="3996">
                <a:solidFill>
                  <a:srgbClr val="FFFFFF"/>
                </a:solidFill>
                <a:latin typeface="Cheddar"/>
                <a:ea typeface="Cheddar"/>
                <a:cs typeface="Cheddar"/>
                <a:sym typeface="Cheddar"/>
              </a:rPr>
              <a:t>RUNNING TESTS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12F6D"/>
        </a:solidFill>
      </p:bgPr>
    </p:bg>
    <p:spTree>
      <p:nvGrpSpPr>
        <p:cNvPr id="1" name=""/>
        <p:cNvGrpSpPr/>
        <p:nvPr/>
      </p:nvGrpSpPr>
      <p:grpSpPr>
        <a:xfrm>
          <a:off x="0" y="0"/>
          <a:ext cx="0" cy="0"/>
          <a:chOff x="0" y="0"/>
          <a:chExt cx="0" cy="0"/>
        </a:xfrm>
      </p:grpSpPr>
      <p:sp>
        <p:nvSpPr>
          <p:cNvPr name="TextBox 2" id="2"/>
          <p:cNvSpPr txBox="true"/>
          <p:nvPr/>
        </p:nvSpPr>
        <p:spPr>
          <a:xfrm rot="0">
            <a:off x="3022252" y="1209675"/>
            <a:ext cx="7291946" cy="1440308"/>
          </a:xfrm>
          <a:prstGeom prst="rect">
            <a:avLst/>
          </a:prstGeom>
        </p:spPr>
        <p:txBody>
          <a:bodyPr anchor="t" rtlCol="false" tIns="0" lIns="0" bIns="0" rIns="0">
            <a:spAutoFit/>
          </a:bodyPr>
          <a:lstStyle/>
          <a:p>
            <a:pPr algn="ctr" marL="0" indent="0" lvl="1">
              <a:lnSpc>
                <a:spcPts val="8774"/>
              </a:lnSpc>
              <a:spcBef>
                <a:spcPct val="0"/>
              </a:spcBef>
            </a:pPr>
            <a:r>
              <a:rPr lang="en-US" sz="10700" spc="-374">
                <a:solidFill>
                  <a:srgbClr val="000000"/>
                </a:solidFill>
                <a:latin typeface="Cheddar"/>
                <a:ea typeface="Cheddar"/>
                <a:cs typeface="Cheddar"/>
                <a:sym typeface="Cheddar"/>
              </a:rPr>
              <a:t>EVALUATION</a:t>
            </a:r>
          </a:p>
        </p:txBody>
      </p:sp>
      <p:sp>
        <p:nvSpPr>
          <p:cNvPr name="TextBox 3" id="3"/>
          <p:cNvSpPr txBox="true"/>
          <p:nvPr/>
        </p:nvSpPr>
        <p:spPr>
          <a:xfrm rot="0">
            <a:off x="1318916" y="2634091"/>
            <a:ext cx="7344860" cy="689693"/>
          </a:xfrm>
          <a:prstGeom prst="rect">
            <a:avLst/>
          </a:prstGeom>
        </p:spPr>
        <p:txBody>
          <a:bodyPr anchor="t" rtlCol="false" tIns="0" lIns="0" bIns="0" rIns="0">
            <a:spAutoFit/>
          </a:bodyPr>
          <a:lstStyle/>
          <a:p>
            <a:pPr algn="l">
              <a:lnSpc>
                <a:spcPts val="5035"/>
              </a:lnSpc>
            </a:pPr>
            <a:r>
              <a:rPr lang="en-US" sz="3596">
                <a:solidFill>
                  <a:srgbClr val="FFFFFF"/>
                </a:solidFill>
                <a:latin typeface="Cheddar"/>
                <a:ea typeface="Cheddar"/>
                <a:cs typeface="Cheddar"/>
                <a:sym typeface="Cheddar"/>
              </a:rPr>
              <a:t>SUCCESS </a:t>
            </a:r>
          </a:p>
        </p:txBody>
      </p:sp>
      <p:sp>
        <p:nvSpPr>
          <p:cNvPr name="TextBox 4" id="4"/>
          <p:cNvSpPr txBox="true"/>
          <p:nvPr/>
        </p:nvSpPr>
        <p:spPr>
          <a:xfrm rot="0">
            <a:off x="1318916" y="3333309"/>
            <a:ext cx="10698618" cy="2086058"/>
          </a:xfrm>
          <a:prstGeom prst="rect">
            <a:avLst/>
          </a:prstGeom>
        </p:spPr>
        <p:txBody>
          <a:bodyPr anchor="t" rtlCol="false" tIns="0" lIns="0" bIns="0" rIns="0">
            <a:spAutoFit/>
          </a:bodyPr>
          <a:lstStyle/>
          <a:p>
            <a:pPr algn="l">
              <a:lnSpc>
                <a:spcPts val="4195"/>
              </a:lnSpc>
            </a:pPr>
            <a:r>
              <a:rPr lang="en-US" sz="2996">
                <a:solidFill>
                  <a:srgbClr val="FFFFFF"/>
                </a:solidFill>
                <a:latin typeface="Roboto"/>
                <a:ea typeface="Roboto"/>
                <a:cs typeface="Roboto"/>
                <a:sym typeface="Roboto"/>
              </a:rPr>
              <a:t>This project will be successeful only if it serves its purpose to help disabled people finaly get access everywhere safely, make communities sustainable for all and finaly give equal opportunities to all.</a:t>
            </a:r>
          </a:p>
        </p:txBody>
      </p:sp>
      <p:sp>
        <p:nvSpPr>
          <p:cNvPr name="TextBox 5" id="5"/>
          <p:cNvSpPr txBox="true"/>
          <p:nvPr/>
        </p:nvSpPr>
        <p:spPr>
          <a:xfrm rot="0">
            <a:off x="1318916" y="5557338"/>
            <a:ext cx="7344860" cy="689693"/>
          </a:xfrm>
          <a:prstGeom prst="rect">
            <a:avLst/>
          </a:prstGeom>
        </p:spPr>
        <p:txBody>
          <a:bodyPr anchor="t" rtlCol="false" tIns="0" lIns="0" bIns="0" rIns="0">
            <a:spAutoFit/>
          </a:bodyPr>
          <a:lstStyle/>
          <a:p>
            <a:pPr algn="l">
              <a:lnSpc>
                <a:spcPts val="5035"/>
              </a:lnSpc>
            </a:pPr>
            <a:r>
              <a:rPr lang="en-US" sz="3596">
                <a:solidFill>
                  <a:srgbClr val="FFFFFF"/>
                </a:solidFill>
                <a:latin typeface="Cheddar"/>
                <a:ea typeface="Cheddar"/>
                <a:cs typeface="Cheddar"/>
                <a:sym typeface="Cheddar"/>
              </a:rPr>
              <a:t>Assess </a:t>
            </a:r>
          </a:p>
        </p:txBody>
      </p:sp>
      <p:sp>
        <p:nvSpPr>
          <p:cNvPr name="TextBox 6" id="6"/>
          <p:cNvSpPr txBox="true"/>
          <p:nvPr/>
        </p:nvSpPr>
        <p:spPr>
          <a:xfrm rot="0">
            <a:off x="886316" y="6256556"/>
            <a:ext cx="10333295" cy="2086058"/>
          </a:xfrm>
          <a:prstGeom prst="rect">
            <a:avLst/>
          </a:prstGeom>
        </p:spPr>
        <p:txBody>
          <a:bodyPr anchor="t" rtlCol="false" tIns="0" lIns="0" bIns="0" rIns="0">
            <a:spAutoFit/>
          </a:bodyPr>
          <a:lstStyle/>
          <a:p>
            <a:pPr algn="l" marL="646997" indent="-323499" lvl="1">
              <a:lnSpc>
                <a:spcPts val="4195"/>
              </a:lnSpc>
              <a:buFont typeface="Arial"/>
              <a:buChar char="•"/>
            </a:pPr>
            <a:r>
              <a:rPr lang="en-US" sz="2996">
                <a:solidFill>
                  <a:srgbClr val="FFFFFF"/>
                </a:solidFill>
                <a:latin typeface="Roboto"/>
                <a:ea typeface="Roboto"/>
                <a:cs typeface="Roboto"/>
                <a:sym typeface="Roboto"/>
              </a:rPr>
              <a:t>Through pilot simulations and tests </a:t>
            </a:r>
          </a:p>
          <a:p>
            <a:pPr algn="l" marL="646997" indent="-323499" lvl="1">
              <a:lnSpc>
                <a:spcPts val="4195"/>
              </a:lnSpc>
              <a:buFont typeface="Arial"/>
              <a:buChar char="•"/>
            </a:pPr>
            <a:r>
              <a:rPr lang="en-US" sz="2996">
                <a:solidFill>
                  <a:srgbClr val="FFFFFF"/>
                </a:solidFill>
                <a:latin typeface="Roboto"/>
                <a:ea typeface="Roboto"/>
                <a:cs typeface="Roboto"/>
                <a:sym typeface="Roboto"/>
              </a:rPr>
              <a:t>Experienced mechanics</a:t>
            </a:r>
          </a:p>
          <a:p>
            <a:pPr algn="l" marL="646997" indent="-323499" lvl="1">
              <a:lnSpc>
                <a:spcPts val="4195"/>
              </a:lnSpc>
              <a:buFont typeface="Arial"/>
              <a:buChar char="•"/>
            </a:pPr>
            <a:r>
              <a:rPr lang="en-US" sz="2996">
                <a:solidFill>
                  <a:srgbClr val="FFFFFF"/>
                </a:solidFill>
                <a:latin typeface="Roboto"/>
                <a:ea typeface="Roboto"/>
                <a:cs typeface="Roboto"/>
                <a:sym typeface="Roboto"/>
              </a:rPr>
              <a:t>Engagement/ Parterships</a:t>
            </a:r>
          </a:p>
          <a:p>
            <a:pPr algn="l" marL="646997" indent="-323499" lvl="1">
              <a:lnSpc>
                <a:spcPts val="4195"/>
              </a:lnSpc>
              <a:buFont typeface="Arial"/>
              <a:buChar char="•"/>
            </a:pPr>
            <a:r>
              <a:rPr lang="en-US" sz="2996">
                <a:solidFill>
                  <a:srgbClr val="FFFFFF"/>
                </a:solidFill>
                <a:latin typeface="Roboto"/>
                <a:ea typeface="Roboto"/>
                <a:cs typeface="Roboto"/>
                <a:sym typeface="Roboto"/>
              </a:rPr>
              <a:t>Reduction in accesibility-related incidents</a:t>
            </a:r>
          </a:p>
        </p:txBody>
      </p:sp>
      <p:sp>
        <p:nvSpPr>
          <p:cNvPr name="Freeform 7" id="7"/>
          <p:cNvSpPr/>
          <p:nvPr/>
        </p:nvSpPr>
        <p:spPr>
          <a:xfrm flipH="false" flipV="false" rot="0">
            <a:off x="350982" y="268547"/>
            <a:ext cx="14415931" cy="9749905"/>
          </a:xfrm>
          <a:custGeom>
            <a:avLst/>
            <a:gdLst/>
            <a:ahLst/>
            <a:cxnLst/>
            <a:rect r="r" b="b" t="t" l="l"/>
            <a:pathLst>
              <a:path h="9749905" w="14415931">
                <a:moveTo>
                  <a:pt x="0" y="0"/>
                </a:moveTo>
                <a:lnTo>
                  <a:pt x="14415931" y="0"/>
                </a:lnTo>
                <a:lnTo>
                  <a:pt x="14415931" y="9749906"/>
                </a:lnTo>
                <a:lnTo>
                  <a:pt x="0" y="97499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0314198" y="4592906"/>
            <a:ext cx="7744138" cy="5084494"/>
          </a:xfrm>
          <a:custGeom>
            <a:avLst/>
            <a:gdLst/>
            <a:ahLst/>
            <a:cxnLst/>
            <a:rect r="r" b="b" t="t" l="l"/>
            <a:pathLst>
              <a:path h="5084494" w="7744138">
                <a:moveTo>
                  <a:pt x="0" y="0"/>
                </a:moveTo>
                <a:lnTo>
                  <a:pt x="7744138" y="0"/>
                </a:lnTo>
                <a:lnTo>
                  <a:pt x="7744138" y="5084494"/>
                </a:lnTo>
                <a:lnTo>
                  <a:pt x="0" y="5084494"/>
                </a:lnTo>
                <a:lnTo>
                  <a:pt x="0" y="0"/>
                </a:lnTo>
                <a:close/>
              </a:path>
            </a:pathLst>
          </a:custGeom>
          <a:blipFill>
            <a:blip r:embed="rId4"/>
            <a:stretch>
              <a:fillRect l="0" t="-1186" r="0" b="-12311"/>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DAHEftb7b2w</dc:identifier>
  <dcterms:modified xsi:type="dcterms:W3CDTF">2011-08-01T06:04:30Z</dcterms:modified>
  <cp:revision>1</cp:revision>
  <dc:title>A presentation is a formal talk, often delivered in front of an audience, aimed at conveying information, persuading others, or sharing insights on a particular topic. Presentations can take various forms, such as verbal speeches, slideshows,</dc:title>
</cp:coreProperties>
</file>